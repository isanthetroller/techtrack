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99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TechTrack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CC00"/>
                </a:solidFill>
              </a:defRPr>
            </a:pPr>
            <a:r>
              <a:t>Hardware Monitoring &amp; Maintenance Management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017520"/>
            <a:ext cx="4572000" cy="5486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4C8FF"/>
                </a:solidFill>
              </a:defRPr>
            </a:pPr>
            <a:r>
              <a:t>Java Swing Desktop Application  |  OOP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System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1E3C"/>
                </a:solidFill>
              </a:defRPr>
            </a:pPr>
            <a:r>
              <a:t>• TechTrack is a desktop application for monitoring and managing hardware equipment</a:t>
            </a:r>
          </a:p>
          <a:p>
            <a:pPr>
              <a:spcAft>
                <a:spcPts val="800"/>
              </a:spcAft>
              <a:defRPr sz="1700">
                <a:solidFill>
                  <a:srgbClr val="1E1E3C"/>
                </a:solidFill>
              </a:defRPr>
            </a:pPr>
            <a:r>
              <a:t>• Built with Java Swing (GUI) and pure Java backend (no external database)</a:t>
            </a:r>
          </a:p>
          <a:p>
            <a:pPr>
              <a:spcAft>
                <a:spcPts val="800"/>
              </a:spcAft>
              <a:defRPr sz="1700">
                <a:solidFill>
                  <a:srgbClr val="1E1E3C"/>
                </a:solidFill>
              </a:defRPr>
            </a:pPr>
            <a:r>
              <a:t>• Tracks equipment status, maintenance schedules, repair logs, and issue reports</a:t>
            </a:r>
          </a:p>
          <a:p>
            <a:pPr>
              <a:spcAft>
                <a:spcPts val="800"/>
              </a:spcAft>
              <a:defRPr sz="1700">
                <a:solidFill>
                  <a:srgbClr val="1E1E3C"/>
                </a:solidFill>
              </a:defRPr>
            </a:pPr>
            <a:r>
              <a:t>• Role-based login system with session management</a:t>
            </a:r>
          </a:p>
          <a:p>
            <a:pPr>
              <a:spcAft>
                <a:spcPts val="800"/>
              </a:spcAft>
              <a:defRPr sz="1700">
                <a:solidFill>
                  <a:srgbClr val="1E1E3C"/>
                </a:solidFill>
              </a:defRPr>
            </a:pPr>
            <a:r>
              <a:t>• Dashboard provides real-time summary statistics from all modules</a:t>
            </a:r>
          </a:p>
          <a:p>
            <a:pPr>
              <a:spcAft>
                <a:spcPts val="800"/>
              </a:spcAft>
              <a:defRPr sz="1700">
                <a:solidFill>
                  <a:srgbClr val="1E1E3C"/>
                </a:solidFill>
              </a:defRPr>
            </a:pPr>
            <a:r>
              <a:t>• All data managed in-memory using ArrayList collections</a:t>
            </a:r>
          </a:p>
          <a:p>
            <a:pPr>
              <a:spcAft>
                <a:spcPts val="800"/>
              </a:spcAft>
              <a:defRPr sz="1700">
                <a:solidFill>
                  <a:srgbClr val="1E1E3C"/>
                </a:solidFill>
              </a:defRPr>
            </a:pPr>
            <a:r>
              <a:t>• Designed using the four pillars of OOP: Encapsulation, Inheritance, Abstraction, Polymorphism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Code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0066CC"/>
                </a:solidFill>
              </a:defRPr>
            </a:pPr>
            <a:r>
              <a:t>Package Organization: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com.mycompany.bastaewan.model/       — Data model classes (Equipment, IssueReport, RepairLog, etc.)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com.mycompany.bastaewan.service/     — Business logic &amp; data management (CRUD services)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com.mycompany.bastaewan/                  — UI layer (Swing pages, frames, utilities)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Key Files: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BaseEntity.java — Abstract parent class for all models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Manageable.java — Interface defining CRUD operations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DataStore.java — Singleton providing access to all services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MainDashboard.java — Main application frame with navigation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SessionManager.java — Manages current user session state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Four Pillars of 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700" b="1">
                <a:solidFill>
                  <a:srgbClr val="0066CC"/>
                </a:solidFill>
              </a:defRPr>
            </a:pPr>
            <a:r>
              <a:t>ENCAPSULATION</a:t>
            </a:r>
          </a:p>
          <a:p>
            <a:pPr>
              <a:spcAft>
                <a:spcPts val="300"/>
              </a:spcAft>
              <a:defRPr sz="1400">
                <a:solidFill>
                  <a:srgbClr val="1E1E3C"/>
                </a:solidFill>
              </a:defRPr>
            </a:pPr>
            <a:r>
              <a:t>  All model fields are private with public getters/setters</a:t>
            </a:r>
          </a:p>
          <a:p>
            <a:pPr>
              <a:spcAft>
                <a:spcPts val="300"/>
              </a:spcAft>
              <a:defRPr sz="1400">
                <a:solidFill>
                  <a:srgbClr val="1E1E3C"/>
                </a:solidFill>
              </a:defRPr>
            </a:pPr>
            <a:r>
              <a:t>  SessionManager hides session state behind static methods</a:t>
            </a:r>
          </a:p>
          <a:p>
            <a:pPr>
              <a:spcAft>
                <a:spcPts val="300"/>
              </a:spcAft>
              <a:defRPr sz="1400">
                <a:solidFill>
                  <a:srgbClr val="1E1E3C"/>
                </a:solidFill>
              </a:defRPr>
            </a:pPr>
          </a:p>
          <a:p>
            <a:pPr>
              <a:spcAft>
                <a:spcPts val="300"/>
              </a:spcAft>
              <a:defRPr sz="1700" b="1">
                <a:solidFill>
                  <a:srgbClr val="0066CC"/>
                </a:solidFill>
              </a:defRPr>
            </a:pPr>
            <a:r>
              <a:t>INHERITANCE</a:t>
            </a:r>
          </a:p>
          <a:p>
            <a:pPr>
              <a:spcAft>
                <a:spcPts val="300"/>
              </a:spcAft>
              <a:defRPr sz="1400">
                <a:solidFill>
                  <a:srgbClr val="1E1E3C"/>
                </a:solidFill>
              </a:defRPr>
            </a:pPr>
            <a:r>
              <a:t>  BaseEntity is the parent class; Equipment, IssueReport, RepairLog, MaintenanceTask, User extend it</a:t>
            </a:r>
          </a:p>
          <a:p>
            <a:pPr>
              <a:spcAft>
                <a:spcPts val="300"/>
              </a:spcAft>
              <a:defRPr sz="1400">
                <a:solidFill>
                  <a:srgbClr val="1E1E3C"/>
                </a:solidFill>
              </a:defRPr>
            </a:pPr>
            <a:r>
              <a:t>  Common properties (id, createdDate) are inherited by all models</a:t>
            </a:r>
          </a:p>
          <a:p>
            <a:pPr>
              <a:spcAft>
                <a:spcPts val="300"/>
              </a:spcAft>
              <a:defRPr sz="1400">
                <a:solidFill>
                  <a:srgbClr val="1E1E3C"/>
                </a:solidFill>
              </a:defRPr>
            </a:pPr>
          </a:p>
          <a:p>
            <a:pPr>
              <a:spcAft>
                <a:spcPts val="300"/>
              </a:spcAft>
              <a:defRPr sz="1700" b="1">
                <a:solidFill>
                  <a:srgbClr val="0066CC"/>
                </a:solidFill>
              </a:defRPr>
            </a:pPr>
            <a:r>
              <a:t>ABSTRACTION</a:t>
            </a:r>
          </a:p>
          <a:p>
            <a:pPr>
              <a:spcAft>
                <a:spcPts val="300"/>
              </a:spcAft>
              <a:defRPr sz="1400">
                <a:solidFill>
                  <a:srgbClr val="1E1E3C"/>
                </a:solidFill>
              </a:defRPr>
            </a:pPr>
            <a:r>
              <a:t>  BaseEntity is abstract — defines toTableRow() and getDisplayName() as abstract methods</a:t>
            </a:r>
          </a:p>
          <a:p>
            <a:pPr>
              <a:spcAft>
                <a:spcPts val="300"/>
              </a:spcAft>
              <a:defRPr sz="1400">
                <a:solidFill>
                  <a:srgbClr val="1E1E3C"/>
                </a:solidFill>
              </a:defRPr>
            </a:pPr>
            <a:r>
              <a:t>  Manageable&lt;T&gt; interface hides CRUD implementation details</a:t>
            </a:r>
          </a:p>
          <a:p>
            <a:pPr>
              <a:spcAft>
                <a:spcPts val="300"/>
              </a:spcAft>
              <a:defRPr sz="1400">
                <a:solidFill>
                  <a:srgbClr val="1E1E3C"/>
                </a:solidFill>
              </a:defRPr>
            </a:pPr>
          </a:p>
          <a:p>
            <a:pPr>
              <a:spcAft>
                <a:spcPts val="300"/>
              </a:spcAft>
              <a:defRPr sz="1700" b="1">
                <a:solidFill>
                  <a:srgbClr val="0066CC"/>
                </a:solidFill>
              </a:defRPr>
            </a:pPr>
            <a:r>
              <a:t>POLYMORPHISM</a:t>
            </a:r>
          </a:p>
          <a:p>
            <a:pPr>
              <a:spcAft>
                <a:spcPts val="300"/>
              </a:spcAft>
              <a:defRPr sz="1400">
                <a:solidFill>
                  <a:srgbClr val="1E1E3C"/>
                </a:solidFill>
              </a:defRPr>
            </a:pPr>
            <a:r>
              <a:t>  Each service implements Manageable&lt;T&gt; differently for its own data type</a:t>
            </a:r>
          </a:p>
          <a:p>
            <a:pPr>
              <a:spcAft>
                <a:spcPts val="300"/>
              </a:spcAft>
              <a:defRPr sz="1400">
                <a:solidFill>
                  <a:srgbClr val="1E1E3C"/>
                </a:solidFill>
              </a:defRPr>
            </a:pPr>
            <a:r>
              <a:t>  Each model overrides toTableRow() and getDisplayName() with its own logic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Features: Login &amp;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LOGIN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Username/password authentication via AuthService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Show/hide password toggle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Session stored in SessionManager after successful login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DASHBOARD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5 summary cards: Total Devices, Online, Needs Attention, Open Repairs, Avg Health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All numbers are calculated live from service data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Maintenance Intelligence table ranks devices by repair frequency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Activity log shows session events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Features: Equipment &amp; Issue Reports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EQUIPMENT MANAGEMENT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View all equipment in a searchable table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Add new equipment (name, type, status, health score, location, category)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Edit existing equipment details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Delete equipment with confirmation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Search/filter by device name, type, or status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ISSUE REPORTS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Report issues linked to registered equipment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Set priority (Low, Medium, High, Critical)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Change status: Open → In Progress → Resolved → Closed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Filter by status, delete with confirmation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Features: Repair Logs &amp; Maintenance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REPAIR LOGS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Log repairs for equipment (description, technician, cost)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Track status: Pending → In Progress → Completed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Mark as complete (auto-fills completion date)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Filter by status, delete entries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MAINTENANCE SCHEDULE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Schedule maintenance tasks with due dates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Status tracking: Scheduled → In Progress → Completed / Overdue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Start and complete tasks from the table</a:t>
            </a:r>
          </a:p>
          <a:p>
            <a:pPr>
              <a:spcAft>
                <a:spcPts val="800"/>
              </a:spcAft>
              <a:defRPr sz="1500">
                <a:solidFill>
                  <a:srgbClr val="1E1E3C"/>
                </a:solidFill>
              </a:defRPr>
            </a:pPr>
            <a:r>
              <a:t>  • Filter by status, add/delete tasks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UI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E1E3C"/>
                </a:solidFill>
              </a:defRPr>
            </a:pPr>
            <a:r>
              <a:t>• Blue &amp; Yellow color theme throughout the application</a:t>
            </a:r>
          </a:p>
          <a:p>
            <a:pPr>
              <a:spcAft>
                <a:spcPts val="800"/>
              </a:spcAft>
              <a:defRPr sz="1600">
                <a:solidFill>
                  <a:srgbClr val="1E1E3C"/>
                </a:solidFill>
              </a:defRPr>
            </a:pPr>
            <a:r>
              <a:t>• Sidebar navigation with highlighted active page</a:t>
            </a:r>
          </a:p>
          <a:p>
            <a:pPr>
              <a:spcAft>
                <a:spcPts val="800"/>
              </a:spcAft>
              <a:defRPr sz="1600">
                <a:solidFill>
                  <a:srgbClr val="1E1E3C"/>
                </a:solidFill>
              </a:defRPr>
            </a:pPr>
            <a:r>
              <a:t>• Top bar with app title, welcome message, and logout button</a:t>
            </a:r>
          </a:p>
          <a:p>
            <a:pPr>
              <a:spcAft>
                <a:spcPts val="800"/>
              </a:spcAft>
              <a:defRPr sz="1600">
                <a:solidFill>
                  <a:srgbClr val="1E1E3C"/>
                </a:solidFill>
              </a:defRPr>
            </a:pPr>
            <a:r>
              <a:t>• User profile section in sidebar with popup menu (View Profile, Settings, Change Password)</a:t>
            </a:r>
          </a:p>
          <a:p>
            <a:pPr>
              <a:spcAft>
                <a:spcPts val="800"/>
              </a:spcAft>
              <a:defRPr sz="1600">
                <a:solidFill>
                  <a:srgbClr val="1E1E3C"/>
                </a:solidFill>
              </a:defRPr>
            </a:pPr>
            <a:r>
              <a:t>• CardLayout for page switching — all pages stay in memory for fast navigation</a:t>
            </a:r>
          </a:p>
          <a:p>
            <a:pPr>
              <a:spcAft>
                <a:spcPts val="800"/>
              </a:spcAft>
              <a:defRPr sz="1600">
                <a:solidFill>
                  <a:srgbClr val="1E1E3C"/>
                </a:solidFill>
              </a:defRPr>
            </a:pPr>
            <a:r>
              <a:t>• Consistent button styling: Green (Add), Blue (Edit/Action), Red (Delete), Orange (Status)</a:t>
            </a:r>
          </a:p>
          <a:p>
            <a:pPr>
              <a:spcAft>
                <a:spcPts val="800"/>
              </a:spcAft>
              <a:defRPr sz="1600">
                <a:solidFill>
                  <a:srgbClr val="1E1E3C"/>
                </a:solidFill>
              </a:defRPr>
            </a:pPr>
            <a:r>
              <a:t>• Responsive tables with row selection for actions</a:t>
            </a:r>
          </a:p>
          <a:p>
            <a:pPr>
              <a:spcAft>
                <a:spcPts val="800"/>
              </a:spcAft>
              <a:defRPr sz="1600">
                <a:solidFill>
                  <a:srgbClr val="1E1E3C"/>
                </a:solidFill>
              </a:defRPr>
            </a:pPr>
            <a:r>
              <a:t>• Modal dialogs for data entry forms</a:t>
            </a:r>
          </a:p>
          <a:p>
            <a:pPr>
              <a:spcAft>
                <a:spcPts val="800"/>
              </a:spcAft>
              <a:defRPr sz="1600">
                <a:solidFill>
                  <a:srgbClr val="1E1E3C"/>
                </a:solidFill>
              </a:defRPr>
            </a:pPr>
            <a:r>
              <a:t>• Status bar at the bottom showing version and 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1E3C"/>
                </a:solidFill>
              </a:defRPr>
            </a:pPr>
            <a:r>
              <a:t>• Language: Java (JDK 25)</a:t>
            </a:r>
          </a:p>
          <a:p>
            <a:pPr>
              <a:spcAft>
                <a:spcPts val="800"/>
              </a:spcAft>
              <a:defRPr sz="1700">
                <a:solidFill>
                  <a:srgbClr val="1E1E3C"/>
                </a:solidFill>
              </a:defRPr>
            </a:pPr>
            <a:r>
              <a:t>• GUI Framework: Java Swing</a:t>
            </a:r>
          </a:p>
          <a:p>
            <a:pPr>
              <a:spcAft>
                <a:spcPts val="800"/>
              </a:spcAft>
              <a:defRPr sz="1700">
                <a:solidFill>
                  <a:srgbClr val="1E1E3C"/>
                </a:solidFill>
              </a:defRPr>
            </a:pPr>
            <a:r>
              <a:t>• Build Tool: Apache Maven</a:t>
            </a:r>
          </a:p>
          <a:p>
            <a:pPr>
              <a:spcAft>
                <a:spcPts val="800"/>
              </a:spcAft>
              <a:defRPr sz="1700">
                <a:solidFill>
                  <a:srgbClr val="1E1E3C"/>
                </a:solidFill>
              </a:defRPr>
            </a:pPr>
            <a:r>
              <a:t>• Data Storage: In-memory (ArrayList collections)</a:t>
            </a:r>
          </a:p>
          <a:p>
            <a:pPr>
              <a:spcAft>
                <a:spcPts val="800"/>
              </a:spcAft>
              <a:defRPr sz="1700">
                <a:solidFill>
                  <a:srgbClr val="1E1E3C"/>
                </a:solidFill>
              </a:defRPr>
            </a:pPr>
            <a:r>
              <a:t>• Design Pattern: Singleton (DataStore), MVC-inspired separation</a:t>
            </a:r>
          </a:p>
          <a:p>
            <a:pPr>
              <a:spcAft>
                <a:spcPts val="800"/>
              </a:spcAft>
              <a:defRPr sz="1700">
                <a:solidFill>
                  <a:srgbClr val="1E1E3C"/>
                </a:solidFill>
              </a:defRPr>
            </a:pPr>
            <a:r>
              <a:t>• IDE: NetBeans / VS Code</a:t>
            </a:r>
          </a:p>
          <a:p>
            <a:pPr>
              <a:spcAft>
                <a:spcPts val="800"/>
              </a:spcAft>
              <a:defRPr sz="1700">
                <a:solidFill>
                  <a:srgbClr val="1E1E3C"/>
                </a:solidFill>
              </a:defRPr>
            </a:pPr>
            <a:r>
              <a:t>• No external libraries or databases — pure Java fundamentals only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99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474720"/>
            <a:ext cx="4572000" cy="5486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4C8FF"/>
                </a:solidFill>
              </a:defRPr>
            </a:pPr>
            <a:r>
              <a:t>TechTrack — Hardware Monitoring &amp; Maintenance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