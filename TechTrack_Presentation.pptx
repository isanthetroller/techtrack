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36576" cy="6858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TechTrack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606040"/>
            <a:ext cx="32004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FFCC00"/>
                </a:solidFill>
              </a:defRPr>
            </a:pPr>
            <a:r>
              <a:t>Hardware Monitoring &amp; Maintenance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A0B4DC"/>
                </a:solidFill>
              </a:defRPr>
            </a:pPr>
            <a:r>
              <a:t>Java Swing Desktop Application</a:t>
            </a:r>
          </a:p>
          <a:p>
            <a:pPr>
              <a:spcAft>
                <a:spcPts val="600"/>
              </a:spcAft>
              <a:defRPr sz="1400">
                <a:solidFill>
                  <a:srgbClr val="A0B4DC"/>
                </a:solidFill>
              </a:defRPr>
            </a:pPr>
            <a:r>
              <a:t>Built with OOP Fundamentals  •  No External Dependencies</a:t>
            </a:r>
          </a:p>
          <a:p>
            <a:pPr>
              <a:spcAft>
                <a:spcPts val="600"/>
              </a:spcAft>
              <a:defRPr sz="1400">
                <a:solidFill>
                  <a:srgbClr val="A0B4DC"/>
                </a:solidFill>
              </a:defRPr>
            </a:pPr>
            <a:r>
              <a:t>Final Version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35508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8CA0C8"/>
                </a:solidFill>
              </a:defRPr>
            </a:pPr>
            <a:r>
              <a:t>CS / IT Project Presentation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CC00"/>
                </a:solidFill>
              </a:defRPr>
            </a:pPr>
            <a:r>
              <a:t>What is TechTrack?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23"/>
                </a:solidFill>
              </a:defRPr>
            </a:pPr>
            <a:r>
              <a:t>TechTrack is a desktop application for monitoring hardware</a:t>
            </a:r>
          </a:p>
          <a:p>
            <a:pPr>
              <a:spcAft>
                <a:spcPts val="800"/>
              </a:spcAft>
              <a:defRPr sz="1500">
                <a:solidFill>
                  <a:srgbClr val="191923"/>
                </a:solidFill>
              </a:defRPr>
            </a:pPr>
            <a:r>
              <a:t>equipment, scheduling maintenance, logging repairs, and</a:t>
            </a:r>
          </a:p>
          <a:p>
            <a:pPr>
              <a:spcAft>
                <a:spcPts val="800"/>
              </a:spcAft>
              <a:defRPr sz="1500">
                <a:solidFill>
                  <a:srgbClr val="191923"/>
                </a:solidFill>
              </a:defRPr>
            </a:pPr>
            <a:r>
              <a:t>managing issue reports — all in one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953512"/>
            <a:ext cx="3383280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Login &amp;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Secure username/password login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Session management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Change 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29260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39" y="2953512"/>
            <a:ext cx="3383280" cy="4114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30632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3F87"/>
                </a:solidFill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383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Live summary statistics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Maintenance intelligence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Activity 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29260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8" y="2953512"/>
            <a:ext cx="3383280" cy="41148"/>
          </a:xfrm>
          <a:prstGeom prst="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8" y="30632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2A65A"/>
                </a:solidFill>
              </a:defRPr>
            </a:pPr>
            <a:r>
              <a:t>Equipment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3832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CRUD operations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Search &amp; filter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Health score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782312"/>
            <a:ext cx="3383280" cy="41148"/>
          </a:xfrm>
          <a:prstGeom prst="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9B1E"/>
                </a:solidFill>
              </a:defRPr>
            </a:pPr>
            <a:r>
              <a:t>Issue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Report issues by equipment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Priority levels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Status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47548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39" y="4782312"/>
            <a:ext cx="3383280" cy="41148"/>
          </a:xfrm>
          <a:prstGeom prst="rect">
            <a:avLst/>
          </a:prstGeom>
          <a:solidFill>
            <a:srgbClr val="DC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48920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DC3C32"/>
                </a:solidFill>
              </a:defRPr>
            </a:pPr>
            <a:r>
              <a:t>Repair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5212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Log repairs with costs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Track technicians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Mark completions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8" y="475488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8" y="4782312"/>
            <a:ext cx="3383280" cy="41148"/>
          </a:xfrm>
          <a:prstGeom prst="rect">
            <a:avLst/>
          </a:prstGeom>
          <a:solidFill>
            <a:srgbClr val="643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8" y="48920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643CB4"/>
                </a:solidFill>
              </a:defRPr>
            </a:pPr>
            <a:r>
              <a:t>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52120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Schedule tasks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Due date tracking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Status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CC00"/>
                </a:solidFill>
              </a:defRPr>
            </a:pPr>
            <a:r>
              <a:t>3-Layer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57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UI LAYER (Presentation)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LoginFrame.java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13432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MainDashboard.java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60904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DashboardPage.java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08376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EquipmentPage.java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55848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IssueReportsPage.java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RepairLogsPage.java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50792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MaintenancePage.java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98264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SessionManager.java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5736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LogoUtils.java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371600"/>
            <a:ext cx="3566160" cy="457200"/>
          </a:xfrm>
          <a:prstGeom prst="round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 LAYER (Business Logic)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965960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Manageable&lt;T&gt;  (Interface)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313432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DataStore  (Singleton)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660904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AuthService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08376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EquipmentService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55848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IssueReportService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703320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RepairLogService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50792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MaintenanceService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371600"/>
            <a:ext cx="3566160" cy="457200"/>
          </a:xfrm>
          <a:prstGeom prst="round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 LAYER (Data)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965960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BaseEntity  (Abstract Class)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313432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Equipment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660904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IssueReport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008376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RepairLog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55848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MaintenanceTask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703320"/>
            <a:ext cx="3383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191923"/>
                </a:solidFill>
              </a:defRPr>
            </a:pPr>
            <a:r>
              <a:t>   User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86200" y="2926080"/>
            <a:ext cx="365760" cy="0"/>
          </a:xfrm>
          <a:prstGeom prst="line">
            <a:avLst/>
          </a:prstGeom>
          <a:ln w="3175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886200" y="3200400"/>
            <a:ext cx="365760" cy="0"/>
          </a:xfrm>
          <a:prstGeom prst="line">
            <a:avLst/>
          </a:prstGeom>
          <a:ln w="3175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26680" y="2926080"/>
            <a:ext cx="365760" cy="0"/>
          </a:xfrm>
          <a:prstGeom prst="line">
            <a:avLst/>
          </a:prstGeom>
          <a:ln w="3175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726680" y="3200400"/>
            <a:ext cx="365760" cy="0"/>
          </a:xfrm>
          <a:prstGeom prst="line">
            <a:avLst/>
          </a:prstGeom>
          <a:ln w="3175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91840" y="2743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788291"/>
                </a:solidFill>
              </a:defRPr>
            </a:pPr>
            <a:r>
              <a:t>calls 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2461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788291"/>
                </a:solidFill>
              </a:defRPr>
            </a:pPr>
            <a:r>
              <a:t>◂ returns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743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788291"/>
                </a:solidFill>
              </a:defRPr>
            </a:pPr>
            <a:r>
              <a:t>uses 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2461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788291"/>
                </a:solidFill>
              </a:defRPr>
            </a:pPr>
            <a:r>
              <a:t>◂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Four Pillars of 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97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90472"/>
            <a:ext cx="260604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691640"/>
            <a:ext cx="640080" cy="64008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Encapsulation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All model fields are private.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Access only through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getters and setters.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SessionManager hides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session state behind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6227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static methods.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490472"/>
            <a:ext cx="2606040" cy="45720"/>
          </a:xfrm>
          <a:prstGeom prst="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3400" y="1691640"/>
            <a:ext cx="640080" cy="640080"/>
          </a:xfrm>
          <a:prstGeom prst="ellipse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2A65A"/>
                </a:solidFill>
              </a:defRPr>
            </a:pPr>
            <a:r>
              <a:t>Inheritance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92608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Equipment, IssueReport,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18211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RepairLog, MaintenanceTask,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438144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and User all extend the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694176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BaseEntity abstract class.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950208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520440" y="420624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Common fields (id, createdDate)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46227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are inherited automatically.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463040"/>
            <a:ext cx="2697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490472"/>
            <a:ext cx="2606040" cy="45720"/>
          </a:xfrm>
          <a:prstGeom prst="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0" y="1691640"/>
            <a:ext cx="640080" cy="640080"/>
          </a:xfrm>
          <a:prstGeom prst="ellipse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4688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59B1E"/>
                </a:solidFill>
              </a:defRPr>
            </a:pPr>
            <a:r>
              <a:t>Abstraction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92608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BaseEntity defines abstract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18211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methods: toTableRow() 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38144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getDisplayName().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94176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400800" y="3950208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Manageable&lt;T&gt; interface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0624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hides CRUD implementation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6227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details from the UI layer.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1463040"/>
            <a:ext cx="2697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0" y="1490472"/>
            <a:ext cx="2606040" cy="45720"/>
          </a:xfrm>
          <a:prstGeom prst="rect">
            <a:avLst/>
          </a:prstGeom>
          <a:solidFill>
            <a:srgbClr val="82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4120" y="1691640"/>
            <a:ext cx="640080" cy="640080"/>
          </a:xfrm>
          <a:prstGeom prst="ellipse">
            <a:avLst/>
          </a:prstGeom>
          <a:solidFill>
            <a:srgbClr val="82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4688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8232B4"/>
                </a:solidFill>
              </a:defRPr>
            </a:pPr>
            <a:r>
              <a:t>Polymorphism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292608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Each service implements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18211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Manageable&lt;T&gt; differently.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438144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9281160" y="3694176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Each model overrides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3950208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toTableRow() with its 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206240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column data.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462272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9281160" y="4718304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Same interface, different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974336"/>
            <a:ext cx="2331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91923"/>
                </a:solidFill>
              </a:defRPr>
            </a:pPr>
            <a:r>
              <a:t>behavior per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Entity Relationship Diagram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34440"/>
            <a:ext cx="2560320" cy="347472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BaseEntity  «abstract»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581912"/>
            <a:ext cx="256032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2" y="1600200"/>
            <a:ext cx="241401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PK  id : int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createdDate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toTableRow() : String[]  «abstract»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getDisplayName() : String  «abstract»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91840"/>
            <a:ext cx="2194560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39312"/>
            <a:ext cx="21945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3657600"/>
            <a:ext cx="20482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PK  id : int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username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password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role :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291840"/>
            <a:ext cx="2194560" cy="347472"/>
          </a:xfrm>
          <a:prstGeom prst="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Equipment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3639312"/>
            <a:ext cx="219456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2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3657600"/>
            <a:ext cx="204825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PK  id : int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deviceName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type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status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healthScore : int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location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category :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291840"/>
            <a:ext cx="2194560" cy="347472"/>
          </a:xfrm>
          <a:prstGeom prst="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IssueReport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639312"/>
            <a:ext cx="219456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3657600"/>
            <a:ext cx="204825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PK  id : int</a:t>
            </a:r>
          </a:p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FK  equipmentName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description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priority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status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reportedBy :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291840"/>
            <a:ext cx="2194560" cy="347472"/>
          </a:xfrm>
          <a:prstGeom prst="rect">
            <a:avLst/>
          </a:prstGeom>
          <a:solidFill>
            <a:srgbClr val="DC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RepairLog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3639312"/>
            <a:ext cx="219456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DC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3657600"/>
            <a:ext cx="204825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PK  id : int</a:t>
            </a:r>
          </a:p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FK  equipmentName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description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technician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status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cost : double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dateCompleted : 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291840"/>
            <a:ext cx="2194560" cy="347472"/>
          </a:xfrm>
          <a:prstGeom prst="rect">
            <a:avLst/>
          </a:prstGeom>
          <a:solidFill>
            <a:srgbClr val="82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MaintenanceTask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3639312"/>
            <a:ext cx="21945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23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7232" y="3657600"/>
            <a:ext cx="20482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PK  id : int</a:t>
            </a:r>
          </a:p>
          <a:p>
            <a:pPr>
              <a:spcAft>
                <a:spcPts val="100"/>
              </a:spcAft>
              <a:defRPr sz="800" b="1">
                <a:solidFill>
                  <a:srgbClr val="191923"/>
                </a:solidFill>
              </a:defRPr>
            </a:pPr>
            <a:r>
              <a:t>FK  equipmentName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task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dueDate : String</a:t>
            </a:r>
          </a:p>
          <a:p>
            <a:pPr>
              <a:spcAft>
                <a:spcPts val="100"/>
              </a:spcAft>
              <a:defRPr sz="800">
                <a:solidFill>
                  <a:srgbClr val="191923"/>
                </a:solidFill>
              </a:defRPr>
            </a:pPr>
            <a:r>
              <a:t>    status : String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371600.0" y="2423160"/>
            <a:ext cx="0.0" cy="86868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49040.0" y="2423160"/>
            <a:ext cx="0.0" cy="868680"/>
          </a:xfrm>
          <a:prstGeom prst="line">
            <a:avLst/>
          </a:prstGeom>
          <a:ln w="19050">
            <a:solidFill>
              <a:srgbClr val="22A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26480.0" y="2423160"/>
            <a:ext cx="0.0" cy="868680"/>
          </a:xfrm>
          <a:prstGeom prst="line">
            <a:avLst/>
          </a:prstGeom>
          <a:ln w="19050">
            <a:solidFill>
              <a:srgbClr val="F59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03920.0" y="2423160"/>
            <a:ext cx="0.0" cy="868680"/>
          </a:xfrm>
          <a:prstGeom prst="line">
            <a:avLst/>
          </a:prstGeom>
          <a:ln w="1905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881360.0" y="2423160"/>
            <a:ext cx="0.0" cy="868680"/>
          </a:xfrm>
          <a:prstGeom prst="line">
            <a:avLst/>
          </a:prstGeom>
          <a:ln w="19050">
            <a:solidFill>
              <a:srgbClr val="823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0" y="2606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788291"/>
                </a:solidFill>
              </a:defRPr>
            </a:pPr>
            <a:r>
              <a:t>▲  extends (inheritance)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21792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788291"/>
                </a:solidFill>
              </a:defRPr>
            </a:pPr>
            <a:r>
              <a:t>IssueReport, RepairLog, and MaintenanceTask reference Equipment by equipmentName  (1 Equipment → many Issues/Repairs/Tasks)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280160"/>
            <a:ext cx="1645920" cy="457200"/>
          </a:xfrm>
          <a:prstGeom prst="round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737360"/>
            <a:ext cx="0" cy="228600"/>
          </a:xfrm>
          <a:prstGeom prst="line">
            <a:avLst/>
          </a:prstGeom>
          <a:ln w="25400">
            <a:solidFill>
              <a:srgbClr val="0A19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37360" y="1965960"/>
            <a:ext cx="1645920" cy="4572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Login Screen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423160"/>
            <a:ext cx="0" cy="228600"/>
          </a:xfrm>
          <a:prstGeom prst="line">
            <a:avLst/>
          </a:prstGeom>
          <a:ln w="25400">
            <a:solidFill>
              <a:srgbClr val="0A19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554480" y="2651760"/>
            <a:ext cx="2011680" cy="457200"/>
          </a:xfrm>
          <a:prstGeom prst="roundRect">
            <a:avLst/>
          </a:prstGeom>
          <a:solidFill>
            <a:srgbClr val="E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1923"/>
                </a:solidFill>
              </a:defRPr>
            </a:pPr>
            <a:r>
              <a:t>Enter Username</a:t>
            </a:r>
            <a:br/>
            <a:r>
              <a:t>&amp; Password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108960"/>
            <a:ext cx="0" cy="228600"/>
          </a:xfrm>
          <a:prstGeom prst="line">
            <a:avLst/>
          </a:prstGeom>
          <a:ln w="25400">
            <a:solidFill>
              <a:srgbClr val="0A19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1920240" y="3337560"/>
            <a:ext cx="1280160" cy="822960"/>
          </a:xfrm>
          <a:prstGeom prst="diamond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91923"/>
                </a:solidFill>
              </a:defRPr>
            </a:pPr>
            <a:r>
              <a:t>Valid</a:t>
            </a:r>
            <a:br/>
            <a:r>
              <a:t>Credentials?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52044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DC3C32"/>
                </a:solidFill>
              </a:defRPr>
            </a:pPr>
            <a:r>
              <a:t>No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749039"/>
            <a:ext cx="731520" cy="0"/>
          </a:xfrm>
          <a:prstGeom prst="line">
            <a:avLst/>
          </a:prstGeom>
          <a:ln w="2540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31920" y="3520440"/>
            <a:ext cx="1463040" cy="411480"/>
          </a:xfrm>
          <a:prstGeom prst="roundRect">
            <a:avLst/>
          </a:prstGeom>
          <a:solidFill>
            <a:srgbClr val="DC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Show Error</a:t>
            </a:r>
            <a:br/>
            <a:r>
              <a:t>Message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663440" y="2194560"/>
            <a:ext cx="0" cy="1325880"/>
          </a:xfrm>
          <a:prstGeom prst="line">
            <a:avLst/>
          </a:prstGeom>
          <a:ln w="2540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383280.0" y="2194560"/>
            <a:ext cx="1280160.0" cy="0"/>
          </a:xfrm>
          <a:prstGeom prst="line">
            <a:avLst/>
          </a:prstGeom>
          <a:ln w="2540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23160" y="416052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22A65A"/>
                </a:solidFill>
              </a:defRPr>
            </a:pPr>
            <a: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4160520"/>
            <a:ext cx="0" cy="274320"/>
          </a:xfrm>
          <a:prstGeom prst="line">
            <a:avLst/>
          </a:prstGeom>
          <a:ln w="25400">
            <a:solidFill>
              <a:srgbClr val="22A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737360" y="4434840"/>
            <a:ext cx="1645920" cy="457200"/>
          </a:xfrm>
          <a:prstGeom prst="round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Set Session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4892040"/>
            <a:ext cx="0" cy="228600"/>
          </a:xfrm>
          <a:prstGeom prst="line">
            <a:avLst/>
          </a:prstGeom>
          <a:ln w="25400">
            <a:solidFill>
              <a:srgbClr val="0A19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54480" y="5120640"/>
            <a:ext cx="2011680" cy="502920"/>
          </a:xfrm>
          <a:prstGeom prst="round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Main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212080"/>
            <a:ext cx="1645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788291"/>
                </a:solidFill>
              </a:defRPr>
            </a:pPr>
            <a:r>
              <a:t>Navigate 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5367528"/>
            <a:ext cx="2743200" cy="0"/>
          </a:xfrm>
          <a:prstGeom prst="line">
            <a:avLst/>
          </a:prstGeom>
          <a:ln w="2540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0" y="1371600"/>
            <a:ext cx="1828800" cy="384048"/>
          </a:xfrm>
          <a:prstGeom prst="round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Dashboard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901952"/>
            <a:ext cx="1828800" cy="384048"/>
          </a:xfrm>
          <a:prstGeom prst="round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Equipment 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432304"/>
            <a:ext cx="1828800" cy="384048"/>
          </a:xfrm>
          <a:prstGeom prst="round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Issue Reports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962656"/>
            <a:ext cx="1828800" cy="384048"/>
          </a:xfrm>
          <a:prstGeom prst="roundRect">
            <a:avLst/>
          </a:prstGeom>
          <a:solidFill>
            <a:srgbClr val="DC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Repair Logs Page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493008"/>
            <a:ext cx="1828800" cy="384048"/>
          </a:xfrm>
          <a:prstGeom prst="roundRect">
            <a:avLst/>
          </a:prstGeom>
          <a:solidFill>
            <a:srgbClr val="82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Maintenance Page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9360" y="1563624.0"/>
            <a:ext cx="548640.0" cy="0.0"/>
          </a:xfrm>
          <a:prstGeom prst="line">
            <a:avLst/>
          </a:prstGeom>
          <a:ln w="1524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09360" y="2093976.0"/>
            <a:ext cx="548640.0" cy="0.0"/>
          </a:xfrm>
          <a:prstGeom prst="line">
            <a:avLst/>
          </a:prstGeom>
          <a:ln w="1524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2624328.0"/>
            <a:ext cx="548640.0" cy="0.0"/>
          </a:xfrm>
          <a:prstGeom prst="line">
            <a:avLst/>
          </a:prstGeom>
          <a:ln w="1524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09360" y="3154680.0"/>
            <a:ext cx="548640.0" cy="0.0"/>
          </a:xfrm>
          <a:prstGeom prst="line">
            <a:avLst/>
          </a:prstGeom>
          <a:ln w="1524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09360" y="3685032.0"/>
            <a:ext cx="548640.0" cy="0.0"/>
          </a:xfrm>
          <a:prstGeom prst="line">
            <a:avLst/>
          </a:prstGeom>
          <a:ln w="1524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58400" y="1371600"/>
            <a:ext cx="18288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5832" y="1399032"/>
            <a:ext cx="1773936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1508760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CRUD Operations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1874520"/>
            <a:ext cx="1463040" cy="320040"/>
          </a:xfrm>
          <a:prstGeom prst="roundRect">
            <a:avLst/>
          </a:prstGeom>
          <a:solidFill>
            <a:srgbClr val="E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1923"/>
                </a:solidFill>
              </a:defRPr>
            </a:pPr>
            <a:r>
              <a:t>Add / Create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2331720"/>
            <a:ext cx="1463040" cy="320040"/>
          </a:xfrm>
          <a:prstGeom prst="roundRect">
            <a:avLst/>
          </a:prstGeom>
          <a:solidFill>
            <a:srgbClr val="E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1923"/>
                </a:solidFill>
              </a:defRPr>
            </a:pPr>
            <a:r>
              <a:t>View / Read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2788920"/>
            <a:ext cx="1463040" cy="320040"/>
          </a:xfrm>
          <a:prstGeom prst="roundRect">
            <a:avLst/>
          </a:prstGeom>
          <a:solidFill>
            <a:srgbClr val="E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1923"/>
                </a:solidFill>
              </a:defRPr>
            </a:pPr>
            <a:r>
              <a:t>Edit / Update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3246120"/>
            <a:ext cx="1463040" cy="320040"/>
          </a:xfrm>
          <a:prstGeom prst="roundRect">
            <a:avLst/>
          </a:prstGeom>
          <a:solidFill>
            <a:srgbClr val="E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1923"/>
                </a:solidFill>
              </a:defRPr>
            </a:pPr>
            <a:r>
              <a:t>Delete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3703320"/>
            <a:ext cx="1463040" cy="320040"/>
          </a:xfrm>
          <a:prstGeom prst="roundRect">
            <a:avLst/>
          </a:prstGeom>
          <a:solidFill>
            <a:srgbClr val="E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1923"/>
                </a:solidFill>
              </a:defRPr>
            </a:pPr>
            <a:r>
              <a:t>Search / Filter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86800.0" y="2468880"/>
            <a:ext cx="1371600.0" cy="0"/>
          </a:xfrm>
          <a:prstGeom prst="line">
            <a:avLst/>
          </a:prstGeom>
          <a:ln w="15240">
            <a:solidFill>
              <a:srgbClr val="788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869680" y="219456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788291"/>
                </a:solidFill>
              </a:defRPr>
            </a:pPr>
            <a:r>
              <a:t>performs 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16636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C3C32"/>
                </a:solidFill>
              </a:defRPr>
            </a:pPr>
            <a:r>
              <a:t>Logout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097280" y="5367528"/>
            <a:ext cx="457200" cy="0"/>
          </a:xfrm>
          <a:prstGeom prst="line">
            <a:avLst/>
          </a:prstGeom>
          <a:ln w="2540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97280" y="2194560"/>
            <a:ext cx="0" cy="3172968"/>
          </a:xfrm>
          <a:prstGeom prst="line">
            <a:avLst/>
          </a:prstGeom>
          <a:ln w="2540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7280" y="2194560"/>
            <a:ext cx="640080.0" cy="0"/>
          </a:xfrm>
          <a:prstGeom prst="line">
            <a:avLst/>
          </a:prstGeom>
          <a:ln w="25400">
            <a:solidFill>
              <a:srgbClr val="DC3C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Features: Login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99032"/>
            <a:ext cx="5212080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Login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• Username and password authentication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• Credentials validated through AuthService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• Show / hide password toggle checkbox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• Session created via SessionManager on success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• Invalid login shows error dialog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• Logout clears session and returns to login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Default credentials: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Username: admin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Password: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99032"/>
            <a:ext cx="5394960" cy="4114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003F87"/>
                </a:solidFill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Live Summary Cards (calculated from services):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Total Devices — count of all equipment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Online &amp; Healthy — count by status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Needs Attention — flagged devices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Open Repair Tickets — incomplete repairs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Avg Health Score — average across all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Maintenance Intelligence: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Ranks devices by repair frequency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Shows category and failure rate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Activity Log — session events and timestamps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Features: Equipment &amp; Issue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99032"/>
            <a:ext cx="5212080" cy="41148"/>
          </a:xfrm>
          <a:prstGeom prst="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2A65A"/>
                </a:solidFill>
              </a:defRPr>
            </a:pPr>
            <a:r>
              <a:t>Equipment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Full CRUD with form dialogs: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Add — device name, type, status, health, location, category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Edit — select row, modify via dialog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Delete — confirmation before removal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Search: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Filter by device name, type, or status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Real-time table refresh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Types: Workstation, Server, Network Switch, Router, Printer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Statuses: Online, Offline, Needs Attention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Categories: Hardware, Software,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99032"/>
            <a:ext cx="5394960" cy="41148"/>
          </a:xfrm>
          <a:prstGeom prst="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9B1E"/>
                </a:solidFill>
              </a:defRPr>
            </a:pPr>
            <a:r>
              <a:t>Issue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Report issues linked to registered equipment: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Select equipment from dropdown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Enter description and set priority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Auto-set reporter from current session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Priority Levels: Low, Medium, High, Critical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Status Workflow: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Open → In Progress → Resolved → Closed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Actions: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Report Issue — open submission form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Resolve — mark as resolved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Close Issue — mark as closed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Delete — remove with confirmation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Filter — dropdown filter by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Features: Repair Logs &amp;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99032"/>
            <a:ext cx="5212080" cy="41148"/>
          </a:xfrm>
          <a:prstGeom prst="rect">
            <a:avLst/>
          </a:prstGeom>
          <a:solidFill>
            <a:srgbClr val="DC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DC3C32"/>
                </a:solidFill>
              </a:defRPr>
            </a:pPr>
            <a:r>
              <a:t>Repair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Log repairs for equipment: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Select equipment from dropdown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Enter description, technician name, cost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New repairs default to Pending status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Status Workflow: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Pending → In Progress → Completed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Mark Complete: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Auto-fills completion date (today's date)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Updates status to Completed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Actions: Add Repair, Mark Complete, Delete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Filter: dropdown by status (All / Pending / In Progress / Completed)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99032"/>
            <a:ext cx="5394960" cy="41148"/>
          </a:xfrm>
          <a:prstGeom prst="rect">
            <a:avLst/>
          </a:prstGeom>
          <a:solidFill>
            <a:srgbClr val="82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8232B4"/>
                </a:solidFill>
              </a:defRPr>
            </a:pPr>
            <a:r>
              <a:t>Maintenance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Schedule maintenance tasks: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Select equipment from dropdown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Enter task description and due date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New tasks default to Scheduled status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Status Workflow: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Scheduled → In Progress → Completed / Overdue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Actions: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Schedule Task — create new task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Start — change status to In Progress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Complete — mark as Completed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  • Delete — remove with confirmation</a:t>
            </a: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91923"/>
                </a:solidFill>
              </a:defRPr>
            </a:pPr>
            <a:r>
              <a:t>Filter: dropdown by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28600"/>
            <a:ext cx="1371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0">
                <a:solidFill>
                  <a:srgbClr val="6482B4"/>
                </a:solidFill>
              </a:defRPr>
            </a:pPr>
            <a:r>
              <a:t>TechTrack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73352"/>
            <a:ext cx="521208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66CC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91923"/>
                </a:solidFill>
              </a:defRPr>
            </a:pPr>
            <a:r>
              <a:t>Java (JDK 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73352"/>
            <a:ext cx="5212080" cy="45720"/>
          </a:xfrm>
          <a:prstGeom prst="rect">
            <a:avLst/>
          </a:prstGeom>
          <a:solidFill>
            <a:srgbClr val="2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2A65A"/>
                </a:solidFill>
              </a:defRPr>
            </a:pPr>
            <a: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91923"/>
                </a:solidFill>
              </a:defRPr>
            </a:pPr>
            <a:r>
              <a:t>Java Swing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27832"/>
            <a:ext cx="5212080" cy="45720"/>
          </a:xfrm>
          <a:prstGeom prst="rect">
            <a:avLst/>
          </a:prstGeom>
          <a:solidFill>
            <a:srgbClr val="F59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59B1E"/>
                </a:solidFill>
              </a:defRPr>
            </a:pPr>
            <a:r>
              <a:t>Build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91923"/>
                </a:solidFill>
              </a:defRPr>
            </a:pPr>
            <a:r>
              <a:t>Apache Maven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20040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227832"/>
            <a:ext cx="5212080" cy="45720"/>
          </a:xfrm>
          <a:prstGeom prst="rect">
            <a:avLst/>
          </a:prstGeom>
          <a:solidFill>
            <a:srgbClr val="823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8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8232B4"/>
                </a:solidFill>
              </a:defRPr>
            </a:pPr>
            <a:r>
              <a:t>Data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4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91923"/>
                </a:solidFill>
              </a:defRPr>
            </a:pPr>
            <a:r>
              <a:t>In-memory (ArrayList)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5488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782312"/>
            <a:ext cx="5212080" cy="4572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03F87"/>
                </a:solidFill>
              </a:defRPr>
            </a:pPr>
            <a:r>
              <a:t>Design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91923"/>
                </a:solidFill>
              </a:defRPr>
            </a:pPr>
            <a:r>
              <a:t>Singleton, MVC-inspired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5488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782312"/>
            <a:ext cx="5212080" cy="45720"/>
          </a:xfrm>
          <a:prstGeom prst="rect">
            <a:avLst/>
          </a:prstGeom>
          <a:solidFill>
            <a:srgbClr val="DC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DC3C32"/>
                </a:solidFill>
              </a:defRPr>
            </a:pPr>
            <a:r>
              <a:t>Dependencies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303520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91923"/>
                </a:solidFill>
              </a:defRPr>
            </a:pPr>
            <a:r>
              <a:t>None — pure Java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36576" cy="68580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27432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CC00"/>
                </a:solidFill>
              </a:defRPr>
            </a:pPr>
            <a:r>
              <a:t>TechTrack — Hardware Monitoring &amp; Maintenance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CA0C8"/>
                </a:solidFill>
              </a:defRPr>
            </a:pPr>
            <a:r>
              <a:t>Java  •  Swing  •  OOP  •  Maven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