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" y="0"/>
            <a:ext cx="36576" cy="6858000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09728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>
              <a:defRPr sz="6000" b="1">
                <a:solidFill>
                  <a:srgbClr val="FFFFFF"/>
                </a:solidFill>
              </a:defRPr>
            </a:pPr>
            <a:r>
              <a:t>TechTrack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2606040"/>
            <a:ext cx="3200400" cy="4572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834640"/>
            <a:ext cx="91440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200" b="0">
                <a:solidFill>
                  <a:srgbClr val="FFCC00"/>
                </a:solidFill>
              </a:defRPr>
            </a:pPr>
            <a:r>
              <a:t>Hardware Monitoring &amp; Maintenance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93192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A0B4DC"/>
                </a:solidFill>
              </a:defRPr>
            </a:pPr>
            <a:r>
              <a:t>Java Swing Desktop Application</a:t>
            </a:r>
          </a:p>
          <a:p>
            <a:pPr>
              <a:spcAft>
                <a:spcPts val="600"/>
              </a:spcAft>
              <a:defRPr sz="1400">
                <a:solidFill>
                  <a:srgbClr val="A0B4DC"/>
                </a:solidFill>
              </a:defRPr>
            </a:pPr>
            <a:r>
              <a:t>Built with OOP Fundamentals  •  No External Dependencies</a:t>
            </a:r>
          </a:p>
          <a:p>
            <a:pPr>
              <a:spcAft>
                <a:spcPts val="600"/>
              </a:spcAft>
              <a:defRPr sz="1400">
                <a:solidFill>
                  <a:srgbClr val="A0B4DC"/>
                </a:solidFill>
              </a:defRPr>
            </a:pPr>
            <a:r>
              <a:t>Final Version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03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6355080"/>
            <a:ext cx="91440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8CA0C8"/>
                </a:solidFill>
              </a:defRPr>
            </a:pPr>
            <a:r>
              <a:t>CS / IT Project Presentation  •  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A19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"/>
            <a:ext cx="91440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System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9144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FFCC00"/>
                </a:solidFill>
              </a:defRPr>
            </a:pPr>
            <a:r>
              <a:t>What is TechTrack?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228600"/>
            <a:ext cx="13716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100" b="0">
                <a:solidFill>
                  <a:srgbClr val="6482B4"/>
                </a:solidFill>
              </a:defRPr>
            </a:pPr>
            <a:r>
              <a:t>TechTrack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1923"/>
                </a:solidFill>
              </a:defRPr>
            </a:pPr>
            <a:r>
              <a:t>TechTrack is a desktop application for monitoring hardware</a:t>
            </a:r>
          </a:p>
          <a:p>
            <a:pPr>
              <a:spcAft>
                <a:spcPts val="800"/>
              </a:spcAft>
              <a:defRPr sz="1500">
                <a:solidFill>
                  <a:srgbClr val="191923"/>
                </a:solidFill>
              </a:defRPr>
            </a:pPr>
            <a:r>
              <a:t>equipment, scheduling maintenance, logging repairs, and</a:t>
            </a:r>
          </a:p>
          <a:p>
            <a:pPr>
              <a:spcAft>
                <a:spcPts val="800"/>
              </a:spcAft>
              <a:defRPr sz="1500">
                <a:solidFill>
                  <a:srgbClr val="191923"/>
                </a:solidFill>
              </a:defRPr>
            </a:pPr>
            <a:r>
              <a:t>managing issue reports — all in one system.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26080"/>
            <a:ext cx="347472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2953512"/>
            <a:ext cx="3383280" cy="41148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063240"/>
            <a:ext cx="3108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0066CC"/>
                </a:solidFill>
              </a:defRPr>
            </a:pPr>
            <a:r>
              <a:t>Login &amp; Auth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8328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Secure username/password login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Session management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Change password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19" y="2926080"/>
            <a:ext cx="347472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39" y="2953512"/>
            <a:ext cx="3383280" cy="41148"/>
          </a:xfrm>
          <a:prstGeom prst="rect">
            <a:avLst/>
          </a:prstGeom>
          <a:solidFill>
            <a:srgbClr val="003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1999" y="3063240"/>
            <a:ext cx="3108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003F87"/>
                </a:solidFill>
              </a:defRPr>
            </a:pPr>
            <a:r>
              <a:t>Dashboard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338328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Live summary statistics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Maintenance intelligence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Activity log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58" y="2926080"/>
            <a:ext cx="347472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8" y="2953512"/>
            <a:ext cx="3383280" cy="41148"/>
          </a:xfrm>
          <a:prstGeom prst="rect">
            <a:avLst/>
          </a:prstGeom>
          <a:solidFill>
            <a:srgbClr val="22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38" y="3063240"/>
            <a:ext cx="3108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22A65A"/>
                </a:solidFill>
              </a:defRPr>
            </a:pPr>
            <a:r>
              <a:t>Equipment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38" y="338328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CRUD operations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Search &amp; filter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Health score tracking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754880"/>
            <a:ext cx="347472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800" y="4782312"/>
            <a:ext cx="3383280" cy="41148"/>
          </a:xfrm>
          <a:prstGeom prst="rect">
            <a:avLst/>
          </a:prstGeom>
          <a:solidFill>
            <a:srgbClr val="F59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892040"/>
            <a:ext cx="3108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F59B1E"/>
                </a:solidFill>
              </a:defRPr>
            </a:pPr>
            <a:r>
              <a:t>Issue Reports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21208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Report issues by equipment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Priority levels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Status workflow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19" y="4754880"/>
            <a:ext cx="347472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34839" y="4782312"/>
            <a:ext cx="3383280" cy="41148"/>
          </a:xfrm>
          <a:prstGeom prst="rect">
            <a:avLst/>
          </a:prstGeom>
          <a:solidFill>
            <a:srgbClr val="DC3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1999" y="4892040"/>
            <a:ext cx="3108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DC3C32"/>
                </a:solidFill>
              </a:defRPr>
            </a:pPr>
            <a:r>
              <a:t>Repair Logs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1999" y="521208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Log repairs with costs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Track technicians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Mark completions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58" y="4754880"/>
            <a:ext cx="347472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83878" y="4782312"/>
            <a:ext cx="3383280" cy="41148"/>
          </a:xfrm>
          <a:prstGeom prst="rect">
            <a:avLst/>
          </a:prstGeom>
          <a:solidFill>
            <a:srgbClr val="643C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38" y="4892040"/>
            <a:ext cx="3108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643CB4"/>
                </a:solidFill>
              </a:defRPr>
            </a:pPr>
            <a:r>
              <a:t>Maintenance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38" y="521208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Schedule tasks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Due date tracking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Status management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A19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"/>
            <a:ext cx="91440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Code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9144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FFCC00"/>
                </a:solidFill>
              </a:defRPr>
            </a:pPr>
            <a:r>
              <a:t>3-Layer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228600"/>
            <a:ext cx="13716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100" b="0">
                <a:solidFill>
                  <a:srgbClr val="6482B4"/>
                </a:solidFill>
              </a:defRPr>
            </a:pPr>
            <a:r>
              <a:t>TechTrack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3566160" cy="457200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UI LAYER (Presentation)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3383280" cy="320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191923"/>
                </a:solidFill>
              </a:defRPr>
            </a:pPr>
            <a:r>
              <a:t>   LoginFrame.java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13432"/>
            <a:ext cx="3383280" cy="320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191923"/>
                </a:solidFill>
              </a:defRPr>
            </a:pPr>
            <a:r>
              <a:t>   MainDashboard.java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60904"/>
            <a:ext cx="3383280" cy="320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191923"/>
                </a:solidFill>
              </a:defRPr>
            </a:pPr>
            <a:r>
              <a:t>   DashboardPage.java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08376"/>
            <a:ext cx="3383280" cy="320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191923"/>
                </a:solidFill>
              </a:defRPr>
            </a:pPr>
            <a:r>
              <a:t>   EquipmentPage.java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355848"/>
            <a:ext cx="3383280" cy="320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191923"/>
                </a:solidFill>
              </a:defRPr>
            </a:pPr>
            <a:r>
              <a:t>   IssueReportsPage.java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03320"/>
            <a:ext cx="3383280" cy="320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191923"/>
                </a:solidFill>
              </a:defRPr>
            </a:pPr>
            <a:r>
              <a:t>   RepairLogsPage.java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50792"/>
            <a:ext cx="3383280" cy="320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191923"/>
                </a:solidFill>
              </a:defRPr>
            </a:pPr>
            <a:r>
              <a:t>   MaintenancePage.java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398264"/>
            <a:ext cx="3383280" cy="320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191923"/>
                </a:solidFill>
              </a:defRPr>
            </a:pPr>
            <a:r>
              <a:t>   SessionManager.java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745736"/>
            <a:ext cx="3383280" cy="320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191923"/>
                </a:solidFill>
              </a:defRPr>
            </a:pPr>
            <a:r>
              <a:t>   LogoUtils.java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371600"/>
            <a:ext cx="3566160" cy="457200"/>
          </a:xfrm>
          <a:prstGeom prst="roundRect">
            <a:avLst/>
          </a:prstGeom>
          <a:solidFill>
            <a:srgbClr val="22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SERVICE LAYER (Business Logic)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1965960"/>
            <a:ext cx="3383280" cy="320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191923"/>
                </a:solidFill>
              </a:defRPr>
            </a:pPr>
            <a:r>
              <a:t>   Manageable&lt;T&gt;  (Interface)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2313432"/>
            <a:ext cx="3383280" cy="320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191923"/>
                </a:solidFill>
              </a:defRPr>
            </a:pPr>
            <a:r>
              <a:t>   DataStore  (Singleton)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0" y="2660904"/>
            <a:ext cx="3383280" cy="320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191923"/>
                </a:solidFill>
              </a:defRPr>
            </a:pPr>
            <a:r>
              <a:t>   AuthService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3008376"/>
            <a:ext cx="3383280" cy="320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191923"/>
                </a:solidFill>
              </a:defRPr>
            </a:pPr>
            <a:r>
              <a:t>   EquipmentService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20" y="3355848"/>
            <a:ext cx="3383280" cy="320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191923"/>
                </a:solidFill>
              </a:defRPr>
            </a:pPr>
            <a:r>
              <a:t>   IssueReportService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20" y="3703320"/>
            <a:ext cx="3383280" cy="320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191923"/>
                </a:solidFill>
              </a:defRPr>
            </a:pPr>
            <a:r>
              <a:t>   RepairLogService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20" y="4050792"/>
            <a:ext cx="3383280" cy="320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191923"/>
                </a:solidFill>
              </a:defRPr>
            </a:pPr>
            <a:r>
              <a:t>   MaintenanceService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1371600"/>
            <a:ext cx="3566160" cy="457200"/>
          </a:xfrm>
          <a:prstGeom prst="roundRect">
            <a:avLst/>
          </a:prstGeom>
          <a:solidFill>
            <a:srgbClr val="F59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MODEL LAYER (Data)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0" y="1965960"/>
            <a:ext cx="3383280" cy="320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191923"/>
                </a:solidFill>
              </a:defRPr>
            </a:pPr>
            <a:r>
              <a:t>   BaseEntity  (Abstract Class)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0" y="2313432"/>
            <a:ext cx="3383280" cy="320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191923"/>
                </a:solidFill>
              </a:defRPr>
            </a:pPr>
            <a:r>
              <a:t>   Equipment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0" y="2660904"/>
            <a:ext cx="3383280" cy="320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191923"/>
                </a:solidFill>
              </a:defRPr>
            </a:pPr>
            <a:r>
              <a:t>   IssueReport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0" y="3008376"/>
            <a:ext cx="3383280" cy="320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191923"/>
                </a:solidFill>
              </a:defRPr>
            </a:pPr>
            <a:r>
              <a:t>   RepairLog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0" y="3355848"/>
            <a:ext cx="3383280" cy="320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191923"/>
                </a:solidFill>
              </a:defRPr>
            </a:pPr>
            <a:r>
              <a:t>   MaintenanceTask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0" y="3703320"/>
            <a:ext cx="3383280" cy="320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191923"/>
                </a:solidFill>
              </a:defRPr>
            </a:pPr>
            <a:r>
              <a:t>   User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886200" y="2926080"/>
            <a:ext cx="365760" cy="0"/>
          </a:xfrm>
          <a:prstGeom prst="line">
            <a:avLst/>
          </a:prstGeom>
          <a:ln w="31750">
            <a:solidFill>
              <a:srgbClr val="78829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3886200" y="3200400"/>
            <a:ext cx="365760" cy="0"/>
          </a:xfrm>
          <a:prstGeom prst="line">
            <a:avLst/>
          </a:prstGeom>
          <a:ln w="31750">
            <a:solidFill>
              <a:srgbClr val="78829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726680" y="2926080"/>
            <a:ext cx="365760" cy="0"/>
          </a:xfrm>
          <a:prstGeom prst="line">
            <a:avLst/>
          </a:prstGeom>
          <a:ln w="31750">
            <a:solidFill>
              <a:srgbClr val="78829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7726680" y="3200400"/>
            <a:ext cx="365760" cy="0"/>
          </a:xfrm>
          <a:prstGeom prst="line">
            <a:avLst/>
          </a:prstGeom>
          <a:ln w="31750">
            <a:solidFill>
              <a:srgbClr val="78829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291840" y="274320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800" b="0">
                <a:solidFill>
                  <a:srgbClr val="788291"/>
                </a:solidFill>
              </a:defRPr>
            </a:pPr>
            <a:r>
              <a:t>calls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324612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800" b="0">
                <a:solidFill>
                  <a:srgbClr val="788291"/>
                </a:solidFill>
              </a:defRPr>
            </a:pPr>
            <a:r>
              <a:t>◂ returns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32320" y="274320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800" b="0">
                <a:solidFill>
                  <a:srgbClr val="788291"/>
                </a:solidFill>
              </a:defRPr>
            </a:pPr>
            <a:r>
              <a:t>uses 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2320" y="324612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800" b="0">
                <a:solidFill>
                  <a:srgbClr val="788291"/>
                </a:solidFill>
              </a:defRPr>
            </a:pPr>
            <a:r>
              <a:t>◂ 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A19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"/>
            <a:ext cx="91440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Four Pillars of 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28600"/>
            <a:ext cx="13716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100" b="0">
                <a:solidFill>
                  <a:srgbClr val="6482B4"/>
                </a:solidFill>
              </a:defRPr>
            </a:pPr>
            <a:r>
              <a:t>TechTrack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63040"/>
            <a:ext cx="26974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90472"/>
            <a:ext cx="260604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63040" y="1691640"/>
            <a:ext cx="640080" cy="64008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468880"/>
            <a:ext cx="2423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600" b="1">
                <a:solidFill>
                  <a:srgbClr val="0066CC"/>
                </a:solidFill>
              </a:defRPr>
            </a:pPr>
            <a:r>
              <a:t>Encapsulation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23317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191923"/>
                </a:solidFill>
              </a:defRPr>
            </a:pPr>
            <a:r>
              <a:t>All model fields are private.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82112"/>
            <a:ext cx="23317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191923"/>
                </a:solidFill>
              </a:defRPr>
            </a:pPr>
            <a:r>
              <a:t>Access only through public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38144"/>
            <a:ext cx="23317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191923"/>
                </a:solidFill>
              </a:defRPr>
            </a:pPr>
            <a:r>
              <a:t>getters and setters.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94176"/>
            <a:ext cx="23317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191923"/>
                </a:solidFill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3950208"/>
            <a:ext cx="23317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191923"/>
                </a:solidFill>
              </a:defRPr>
            </a:pPr>
            <a:r>
              <a:t>SessionManager hides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06240"/>
            <a:ext cx="23317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191923"/>
                </a:solidFill>
              </a:defRPr>
            </a:pPr>
            <a:r>
              <a:t>session state behind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62272"/>
            <a:ext cx="23317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191923"/>
                </a:solidFill>
              </a:defRPr>
            </a:pPr>
            <a:r>
              <a:t>static methods.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37560" y="1463040"/>
            <a:ext cx="26974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83280" y="1490472"/>
            <a:ext cx="2606040" cy="45720"/>
          </a:xfrm>
          <a:prstGeom prst="rect">
            <a:avLst/>
          </a:prstGeom>
          <a:solidFill>
            <a:srgbClr val="22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343400" y="1691640"/>
            <a:ext cx="640080" cy="640080"/>
          </a:xfrm>
          <a:prstGeom prst="ellipse">
            <a:avLst/>
          </a:prstGeom>
          <a:solidFill>
            <a:srgbClr val="22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468880"/>
            <a:ext cx="2423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600" b="1">
                <a:solidFill>
                  <a:srgbClr val="22A65A"/>
                </a:solidFill>
              </a:defRPr>
            </a:pPr>
            <a:r>
              <a:t>Inheritance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926080"/>
            <a:ext cx="23317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191923"/>
                </a:solidFill>
              </a:defRPr>
            </a:pPr>
            <a:r>
              <a:t>Equipment, IssueReport,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3182112"/>
            <a:ext cx="23317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191923"/>
                </a:solidFill>
              </a:defRPr>
            </a:pPr>
            <a:r>
              <a:t>RepairLog, MaintenanceTask,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438144"/>
            <a:ext cx="23317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191923"/>
                </a:solidFill>
              </a:defRPr>
            </a:pPr>
            <a:r>
              <a:t>and User all extend the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3694176"/>
            <a:ext cx="23317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191923"/>
                </a:solidFill>
              </a:defRPr>
            </a:pPr>
            <a:r>
              <a:t>BaseEntity abstract class.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950208"/>
            <a:ext cx="23317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191923"/>
                </a:solidFill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3520440" y="4206240"/>
            <a:ext cx="23317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191923"/>
                </a:solidFill>
              </a:defRPr>
            </a:pPr>
            <a:r>
              <a:t>Common fields (id, createdDate)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462272"/>
            <a:ext cx="23317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191923"/>
                </a:solidFill>
              </a:defRPr>
            </a:pPr>
            <a:r>
              <a:t>are inherited automatically.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1463040"/>
            <a:ext cx="26974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3640" y="1490472"/>
            <a:ext cx="2606040" cy="45720"/>
          </a:xfrm>
          <a:prstGeom prst="rect">
            <a:avLst/>
          </a:prstGeom>
          <a:solidFill>
            <a:srgbClr val="F59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223760" y="1691640"/>
            <a:ext cx="640080" cy="640080"/>
          </a:xfrm>
          <a:prstGeom prst="ellipse">
            <a:avLst/>
          </a:prstGeom>
          <a:solidFill>
            <a:srgbClr val="F59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2468880"/>
            <a:ext cx="2423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600" b="1">
                <a:solidFill>
                  <a:srgbClr val="F59B1E"/>
                </a:solidFill>
              </a:defRPr>
            </a:pPr>
            <a:r>
              <a:t>Abstraction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926080"/>
            <a:ext cx="23317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191923"/>
                </a:solidFill>
              </a:defRPr>
            </a:pPr>
            <a:r>
              <a:t>BaseEntity defines abstract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182112"/>
            <a:ext cx="23317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191923"/>
                </a:solidFill>
              </a:defRPr>
            </a:pPr>
            <a:r>
              <a:t>methods: toTableRow() and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3438144"/>
            <a:ext cx="23317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191923"/>
                </a:solidFill>
              </a:defRPr>
            </a:pPr>
            <a:r>
              <a:t>getDisplayName().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694176"/>
            <a:ext cx="23317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191923"/>
                </a:solidFill>
              </a:defRPr>
            </a:pPr>
          </a:p>
        </p:txBody>
      </p:sp>
      <p:sp>
        <p:nvSpPr>
          <p:cNvPr id="36" name="TextBox 35"/>
          <p:cNvSpPr txBox="1"/>
          <p:nvPr/>
        </p:nvSpPr>
        <p:spPr>
          <a:xfrm>
            <a:off x="6400800" y="3950208"/>
            <a:ext cx="23317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191923"/>
                </a:solidFill>
              </a:defRPr>
            </a:pPr>
            <a:r>
              <a:t>Manageable&lt;T&gt; interface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206240"/>
            <a:ext cx="23317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191923"/>
                </a:solidFill>
              </a:defRPr>
            </a:pPr>
            <a:r>
              <a:t>hides CRUD implementation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462272"/>
            <a:ext cx="23317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191923"/>
                </a:solidFill>
              </a:defRPr>
            </a:pPr>
            <a:r>
              <a:t>details from the UI layer.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98280" y="1463040"/>
            <a:ext cx="26974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144000" y="1490472"/>
            <a:ext cx="2606040" cy="45720"/>
          </a:xfrm>
          <a:prstGeom prst="rect">
            <a:avLst/>
          </a:prstGeom>
          <a:solidFill>
            <a:srgbClr val="823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104120" y="1691640"/>
            <a:ext cx="640080" cy="640080"/>
          </a:xfrm>
          <a:prstGeom prst="ellipse">
            <a:avLst/>
          </a:prstGeom>
          <a:solidFill>
            <a:srgbClr val="823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35440" y="2468880"/>
            <a:ext cx="2423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600" b="1">
                <a:solidFill>
                  <a:srgbClr val="8232B4"/>
                </a:solidFill>
              </a:defRPr>
            </a:pPr>
            <a:r>
              <a:t>Polymorphism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81160" y="2926080"/>
            <a:ext cx="23317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191923"/>
                </a:solidFill>
              </a:defRPr>
            </a:pPr>
            <a:r>
              <a:t>Each service implements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81160" y="3182112"/>
            <a:ext cx="23317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191923"/>
                </a:solidFill>
              </a:defRPr>
            </a:pPr>
            <a:r>
              <a:t>Manageable&lt;T&gt; differently.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81160" y="3438144"/>
            <a:ext cx="23317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191923"/>
                </a:solidFill>
              </a:defRPr>
            </a:pPr>
          </a:p>
        </p:txBody>
      </p:sp>
      <p:sp>
        <p:nvSpPr>
          <p:cNvPr id="46" name="TextBox 45"/>
          <p:cNvSpPr txBox="1"/>
          <p:nvPr/>
        </p:nvSpPr>
        <p:spPr>
          <a:xfrm>
            <a:off x="9281160" y="3694176"/>
            <a:ext cx="23317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191923"/>
                </a:solidFill>
              </a:defRPr>
            </a:pPr>
            <a:r>
              <a:t>Each model overrides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81160" y="3950208"/>
            <a:ext cx="23317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191923"/>
                </a:solidFill>
              </a:defRPr>
            </a:pPr>
            <a:r>
              <a:t>toTableRow() with its own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81160" y="4206240"/>
            <a:ext cx="23317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191923"/>
                </a:solidFill>
              </a:defRPr>
            </a:pPr>
            <a:r>
              <a:t>column data.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81160" y="4462272"/>
            <a:ext cx="23317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191923"/>
                </a:solidFill>
              </a:defRPr>
            </a:pPr>
          </a:p>
        </p:txBody>
      </p:sp>
      <p:sp>
        <p:nvSpPr>
          <p:cNvPr id="50" name="TextBox 49"/>
          <p:cNvSpPr txBox="1"/>
          <p:nvPr/>
        </p:nvSpPr>
        <p:spPr>
          <a:xfrm>
            <a:off x="9281160" y="4718304"/>
            <a:ext cx="23317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191923"/>
                </a:solidFill>
              </a:defRPr>
            </a:pPr>
            <a:r>
              <a:t>Same interface, different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81160" y="4974336"/>
            <a:ext cx="23317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191923"/>
                </a:solidFill>
              </a:defRPr>
            </a:pPr>
            <a:r>
              <a:t>behavior per type.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A19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"/>
            <a:ext cx="91440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Entity Relationship Diagram (ERD)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28600"/>
            <a:ext cx="13716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100" b="0">
                <a:solidFill>
                  <a:srgbClr val="6482B4"/>
                </a:solidFill>
              </a:defRPr>
            </a:pPr>
            <a:r>
              <a:t>TechTrack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1234440"/>
            <a:ext cx="2560320" cy="347472"/>
          </a:xfrm>
          <a:prstGeom prst="rect">
            <a:avLst/>
          </a:prstGeom>
          <a:solidFill>
            <a:srgbClr val="0A19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BaseEntity  «abstract»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1581912"/>
            <a:ext cx="2560320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0A19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28032" y="1600200"/>
            <a:ext cx="2414016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800" b="1">
                <a:solidFill>
                  <a:srgbClr val="191923"/>
                </a:solidFill>
              </a:defRPr>
            </a:pPr>
            <a:r>
              <a:t>PK  id : int</a:t>
            </a:r>
          </a:p>
          <a:p>
            <a:pPr>
              <a:spcAft>
                <a:spcPts val="100"/>
              </a:spcAft>
              <a:defRPr sz="800">
                <a:solidFill>
                  <a:srgbClr val="191923"/>
                </a:solidFill>
              </a:defRPr>
            </a:pPr>
            <a:r>
              <a:t>    createdDate : String</a:t>
            </a:r>
          </a:p>
          <a:p>
            <a:pPr>
              <a:spcAft>
                <a:spcPts val="100"/>
              </a:spcAft>
              <a:defRPr sz="800">
                <a:solidFill>
                  <a:srgbClr val="191923"/>
                </a:solidFill>
              </a:defRPr>
            </a:pPr>
            <a:r>
              <a:t>    toTableRow() : String[]  «abstract»</a:t>
            </a:r>
          </a:p>
          <a:p>
            <a:pPr>
              <a:spcAft>
                <a:spcPts val="100"/>
              </a:spcAft>
              <a:defRPr sz="800">
                <a:solidFill>
                  <a:srgbClr val="191923"/>
                </a:solidFill>
              </a:defRPr>
            </a:pPr>
            <a:r>
              <a:t>    getDisplayName() : String  «abstract»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291840"/>
            <a:ext cx="2194560" cy="34747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User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639312"/>
            <a:ext cx="2194560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3657600"/>
            <a:ext cx="2048256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800" b="1">
                <a:solidFill>
                  <a:srgbClr val="191923"/>
                </a:solidFill>
              </a:defRPr>
            </a:pPr>
            <a:r>
              <a:t>PK  id : int</a:t>
            </a:r>
          </a:p>
          <a:p>
            <a:pPr>
              <a:spcAft>
                <a:spcPts val="100"/>
              </a:spcAft>
              <a:defRPr sz="800">
                <a:solidFill>
                  <a:srgbClr val="191923"/>
                </a:solidFill>
              </a:defRPr>
            </a:pPr>
            <a:r>
              <a:t>    username : String</a:t>
            </a:r>
          </a:p>
          <a:p>
            <a:pPr>
              <a:spcAft>
                <a:spcPts val="100"/>
              </a:spcAft>
              <a:defRPr sz="800">
                <a:solidFill>
                  <a:srgbClr val="191923"/>
                </a:solidFill>
              </a:defRPr>
            </a:pPr>
            <a:r>
              <a:t>    password : String</a:t>
            </a:r>
          </a:p>
          <a:p>
            <a:pPr>
              <a:spcAft>
                <a:spcPts val="100"/>
              </a:spcAft>
              <a:defRPr sz="800">
                <a:solidFill>
                  <a:srgbClr val="191923"/>
                </a:solidFill>
              </a:defRPr>
            </a:pPr>
            <a:r>
              <a:t>    role : String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0" y="3291840"/>
            <a:ext cx="2194560" cy="347472"/>
          </a:xfrm>
          <a:prstGeom prst="rect">
            <a:avLst/>
          </a:prstGeom>
          <a:solidFill>
            <a:srgbClr val="22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Equipment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51760" y="3639312"/>
            <a:ext cx="2194560" cy="1408176"/>
          </a:xfrm>
          <a:prstGeom prst="rect">
            <a:avLst/>
          </a:prstGeom>
          <a:solidFill>
            <a:srgbClr val="FFFFFF"/>
          </a:solidFill>
          <a:ln w="19050">
            <a:solidFill>
              <a:srgbClr val="22A6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24912" y="3657600"/>
            <a:ext cx="2048256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800" b="1">
                <a:solidFill>
                  <a:srgbClr val="191923"/>
                </a:solidFill>
              </a:defRPr>
            </a:pPr>
            <a:r>
              <a:t>PK  id : int</a:t>
            </a:r>
          </a:p>
          <a:p>
            <a:pPr>
              <a:spcAft>
                <a:spcPts val="100"/>
              </a:spcAft>
              <a:defRPr sz="800">
                <a:solidFill>
                  <a:srgbClr val="191923"/>
                </a:solidFill>
              </a:defRPr>
            </a:pPr>
            <a:r>
              <a:t>    deviceName : String</a:t>
            </a:r>
          </a:p>
          <a:p>
            <a:pPr>
              <a:spcAft>
                <a:spcPts val="100"/>
              </a:spcAft>
              <a:defRPr sz="800">
                <a:solidFill>
                  <a:srgbClr val="191923"/>
                </a:solidFill>
              </a:defRPr>
            </a:pPr>
            <a:r>
              <a:t>    type : String</a:t>
            </a:r>
          </a:p>
          <a:p>
            <a:pPr>
              <a:spcAft>
                <a:spcPts val="100"/>
              </a:spcAft>
              <a:defRPr sz="800">
                <a:solidFill>
                  <a:srgbClr val="191923"/>
                </a:solidFill>
              </a:defRPr>
            </a:pPr>
            <a:r>
              <a:t>    status : String</a:t>
            </a:r>
          </a:p>
          <a:p>
            <a:pPr>
              <a:spcAft>
                <a:spcPts val="100"/>
              </a:spcAft>
              <a:defRPr sz="800">
                <a:solidFill>
                  <a:srgbClr val="191923"/>
                </a:solidFill>
              </a:defRPr>
            </a:pPr>
            <a:r>
              <a:t>    healthScore : int</a:t>
            </a:r>
          </a:p>
          <a:p>
            <a:pPr>
              <a:spcAft>
                <a:spcPts val="100"/>
              </a:spcAft>
              <a:defRPr sz="800">
                <a:solidFill>
                  <a:srgbClr val="191923"/>
                </a:solidFill>
              </a:defRPr>
            </a:pPr>
            <a:r>
              <a:t>    location : String</a:t>
            </a:r>
          </a:p>
          <a:p>
            <a:pPr>
              <a:spcAft>
                <a:spcPts val="100"/>
              </a:spcAft>
              <a:defRPr sz="800">
                <a:solidFill>
                  <a:srgbClr val="191923"/>
                </a:solidFill>
              </a:defRPr>
            </a:pPr>
            <a:r>
              <a:t>    category : String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0" y="3291840"/>
            <a:ext cx="2194560" cy="347472"/>
          </a:xfrm>
          <a:prstGeom prst="rect">
            <a:avLst/>
          </a:prstGeom>
          <a:solidFill>
            <a:srgbClr val="F59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IssueReport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0" y="3639312"/>
            <a:ext cx="2194560" cy="120700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B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02352" y="3657600"/>
            <a:ext cx="2048256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800" b="1">
                <a:solidFill>
                  <a:srgbClr val="191923"/>
                </a:solidFill>
              </a:defRPr>
            </a:pPr>
            <a:r>
              <a:t>PK  id : int</a:t>
            </a:r>
          </a:p>
          <a:p>
            <a:pPr>
              <a:spcAft>
                <a:spcPts val="100"/>
              </a:spcAft>
              <a:defRPr sz="800" b="1">
                <a:solidFill>
                  <a:srgbClr val="191923"/>
                </a:solidFill>
              </a:defRPr>
            </a:pPr>
            <a:r>
              <a:t>FK  equipmentName : String</a:t>
            </a:r>
          </a:p>
          <a:p>
            <a:pPr>
              <a:spcAft>
                <a:spcPts val="100"/>
              </a:spcAft>
              <a:defRPr sz="800">
                <a:solidFill>
                  <a:srgbClr val="191923"/>
                </a:solidFill>
              </a:defRPr>
            </a:pPr>
            <a:r>
              <a:t>    description : String</a:t>
            </a:r>
          </a:p>
          <a:p>
            <a:pPr>
              <a:spcAft>
                <a:spcPts val="100"/>
              </a:spcAft>
              <a:defRPr sz="800">
                <a:solidFill>
                  <a:srgbClr val="191923"/>
                </a:solidFill>
              </a:defRPr>
            </a:pPr>
            <a:r>
              <a:t>    priority : String</a:t>
            </a:r>
          </a:p>
          <a:p>
            <a:pPr>
              <a:spcAft>
                <a:spcPts val="100"/>
              </a:spcAft>
              <a:defRPr sz="800">
                <a:solidFill>
                  <a:srgbClr val="191923"/>
                </a:solidFill>
              </a:defRPr>
            </a:pPr>
            <a:r>
              <a:t>    status : String</a:t>
            </a:r>
          </a:p>
          <a:p>
            <a:pPr>
              <a:spcAft>
                <a:spcPts val="100"/>
              </a:spcAft>
              <a:defRPr sz="800">
                <a:solidFill>
                  <a:srgbClr val="191923"/>
                </a:solidFill>
              </a:defRPr>
            </a:pPr>
            <a:r>
              <a:t>    reportedBy : String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06640" y="3291840"/>
            <a:ext cx="2194560" cy="347472"/>
          </a:xfrm>
          <a:prstGeom prst="rect">
            <a:avLst/>
          </a:prstGeom>
          <a:solidFill>
            <a:srgbClr val="DC3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RepairLog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3639312"/>
            <a:ext cx="2194560" cy="1408176"/>
          </a:xfrm>
          <a:prstGeom prst="rect">
            <a:avLst/>
          </a:prstGeom>
          <a:solidFill>
            <a:srgbClr val="FFFFFF"/>
          </a:solidFill>
          <a:ln w="19050">
            <a:solidFill>
              <a:srgbClr val="DC3C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79792" y="3657600"/>
            <a:ext cx="2048256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800" b="1">
                <a:solidFill>
                  <a:srgbClr val="191923"/>
                </a:solidFill>
              </a:defRPr>
            </a:pPr>
            <a:r>
              <a:t>PK  id : int</a:t>
            </a:r>
          </a:p>
          <a:p>
            <a:pPr>
              <a:spcAft>
                <a:spcPts val="100"/>
              </a:spcAft>
              <a:defRPr sz="800" b="1">
                <a:solidFill>
                  <a:srgbClr val="191923"/>
                </a:solidFill>
              </a:defRPr>
            </a:pPr>
            <a:r>
              <a:t>FK  equipmentName : String</a:t>
            </a:r>
          </a:p>
          <a:p>
            <a:pPr>
              <a:spcAft>
                <a:spcPts val="100"/>
              </a:spcAft>
              <a:defRPr sz="800">
                <a:solidFill>
                  <a:srgbClr val="191923"/>
                </a:solidFill>
              </a:defRPr>
            </a:pPr>
            <a:r>
              <a:t>    description : String</a:t>
            </a:r>
          </a:p>
          <a:p>
            <a:pPr>
              <a:spcAft>
                <a:spcPts val="100"/>
              </a:spcAft>
              <a:defRPr sz="800">
                <a:solidFill>
                  <a:srgbClr val="191923"/>
                </a:solidFill>
              </a:defRPr>
            </a:pPr>
            <a:r>
              <a:t>    technician : String</a:t>
            </a:r>
          </a:p>
          <a:p>
            <a:pPr>
              <a:spcAft>
                <a:spcPts val="100"/>
              </a:spcAft>
              <a:defRPr sz="800">
                <a:solidFill>
                  <a:srgbClr val="191923"/>
                </a:solidFill>
              </a:defRPr>
            </a:pPr>
            <a:r>
              <a:t>    status : String</a:t>
            </a:r>
          </a:p>
          <a:p>
            <a:pPr>
              <a:spcAft>
                <a:spcPts val="100"/>
              </a:spcAft>
              <a:defRPr sz="800">
                <a:solidFill>
                  <a:srgbClr val="191923"/>
                </a:solidFill>
              </a:defRPr>
            </a:pPr>
            <a:r>
              <a:t>    cost : double</a:t>
            </a:r>
          </a:p>
          <a:p>
            <a:pPr>
              <a:spcAft>
                <a:spcPts val="100"/>
              </a:spcAft>
              <a:defRPr sz="800">
                <a:solidFill>
                  <a:srgbClr val="191923"/>
                </a:solidFill>
              </a:defRPr>
            </a:pPr>
            <a:r>
              <a:t>    dateCompleted : String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84080" y="3291840"/>
            <a:ext cx="2194560" cy="347472"/>
          </a:xfrm>
          <a:prstGeom prst="rect">
            <a:avLst/>
          </a:prstGeom>
          <a:solidFill>
            <a:srgbClr val="823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MaintenanceTask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84080" y="3639312"/>
            <a:ext cx="219456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823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57232" y="3657600"/>
            <a:ext cx="20482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800" b="1">
                <a:solidFill>
                  <a:srgbClr val="191923"/>
                </a:solidFill>
              </a:defRPr>
            </a:pPr>
            <a:r>
              <a:t>PK  id : int</a:t>
            </a:r>
          </a:p>
          <a:p>
            <a:pPr>
              <a:spcAft>
                <a:spcPts val="100"/>
              </a:spcAft>
              <a:defRPr sz="800" b="1">
                <a:solidFill>
                  <a:srgbClr val="191923"/>
                </a:solidFill>
              </a:defRPr>
            </a:pPr>
            <a:r>
              <a:t>FK  equipmentName : String</a:t>
            </a:r>
          </a:p>
          <a:p>
            <a:pPr>
              <a:spcAft>
                <a:spcPts val="100"/>
              </a:spcAft>
              <a:defRPr sz="800">
                <a:solidFill>
                  <a:srgbClr val="191923"/>
                </a:solidFill>
              </a:defRPr>
            </a:pPr>
            <a:r>
              <a:t>    task : String</a:t>
            </a:r>
          </a:p>
          <a:p>
            <a:pPr>
              <a:spcAft>
                <a:spcPts val="100"/>
              </a:spcAft>
              <a:defRPr sz="800">
                <a:solidFill>
                  <a:srgbClr val="191923"/>
                </a:solidFill>
              </a:defRPr>
            </a:pPr>
            <a:r>
              <a:t>    dueDate : String</a:t>
            </a:r>
          </a:p>
          <a:p>
            <a:pPr>
              <a:spcAft>
                <a:spcPts val="100"/>
              </a:spcAft>
              <a:defRPr sz="800">
                <a:solidFill>
                  <a:srgbClr val="191923"/>
                </a:solidFill>
              </a:defRPr>
            </a:pPr>
            <a:r>
              <a:t>    status : String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1371600.0" y="2423160"/>
            <a:ext cx="0.0" cy="868680"/>
          </a:xfrm>
          <a:prstGeom prst="line">
            <a:avLst/>
          </a:prstGeom>
          <a:ln w="19050">
            <a:solidFill>
              <a:srgbClr val="0066C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3749040.0" y="2423160"/>
            <a:ext cx="0.0" cy="868680"/>
          </a:xfrm>
          <a:prstGeom prst="line">
            <a:avLst/>
          </a:prstGeom>
          <a:ln w="19050">
            <a:solidFill>
              <a:srgbClr val="22A6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6126480.0" y="2423160"/>
            <a:ext cx="0.0" cy="868680"/>
          </a:xfrm>
          <a:prstGeom prst="line">
            <a:avLst/>
          </a:prstGeom>
          <a:ln w="19050">
            <a:solidFill>
              <a:srgbClr val="F59B1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8503920.0" y="2423160"/>
            <a:ext cx="0.0" cy="868680"/>
          </a:xfrm>
          <a:prstGeom prst="line">
            <a:avLst/>
          </a:prstGeom>
          <a:ln w="19050">
            <a:solidFill>
              <a:srgbClr val="DC3C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0881360.0" y="2423160"/>
            <a:ext cx="0.0" cy="868680"/>
          </a:xfrm>
          <a:prstGeom prst="line">
            <a:avLst/>
          </a:prstGeom>
          <a:ln w="19050">
            <a:solidFill>
              <a:srgbClr val="8232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029200" y="2606040"/>
            <a:ext cx="2286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00" b="1">
                <a:solidFill>
                  <a:srgbClr val="788291"/>
                </a:solidFill>
              </a:defRPr>
            </a:pPr>
            <a:r>
              <a:t>▲  extends (inheritance)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217920"/>
            <a:ext cx="7315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788291"/>
                </a:solidFill>
              </a:defRPr>
            </a:pPr>
            <a:r>
              <a:t>IssueReport, RepairLog, and MaintenanceTask reference Equipment by equipmentName  (1 Equipment → many Issues/Repairs/Tasks)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A19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"/>
            <a:ext cx="91440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System Flowchart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28600"/>
            <a:ext cx="13716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100" b="0">
                <a:solidFill>
                  <a:srgbClr val="6482B4"/>
                </a:solidFill>
              </a:defRPr>
            </a:pPr>
            <a:r>
              <a:t>TechTrack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1280160"/>
            <a:ext cx="1645920" cy="457200"/>
          </a:xfrm>
          <a:prstGeom prst="roundRect">
            <a:avLst/>
          </a:prstGeom>
          <a:solidFill>
            <a:srgbClr val="0A19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START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60320" y="1737360"/>
            <a:ext cx="0" cy="228600"/>
          </a:xfrm>
          <a:prstGeom prst="line">
            <a:avLst/>
          </a:prstGeom>
          <a:ln w="25400">
            <a:solidFill>
              <a:srgbClr val="0A19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737360" y="1965960"/>
            <a:ext cx="1645920" cy="457200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Login Screen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60320" y="2423160"/>
            <a:ext cx="0" cy="228600"/>
          </a:xfrm>
          <a:prstGeom prst="line">
            <a:avLst/>
          </a:prstGeom>
          <a:ln w="25400">
            <a:solidFill>
              <a:srgbClr val="0A19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554480" y="2651760"/>
            <a:ext cx="2011680" cy="457200"/>
          </a:xfrm>
          <a:prstGeom prst="roundRect">
            <a:avLst/>
          </a:prstGeom>
          <a:solidFill>
            <a:srgbClr val="E0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191923"/>
                </a:solidFill>
              </a:defRPr>
            </a:pPr>
            <a:r>
              <a:t>Enter Username</a:t>
            </a:r>
            <a:br/>
            <a:r>
              <a:t>&amp; Password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60320" y="3108960"/>
            <a:ext cx="0" cy="228600"/>
          </a:xfrm>
          <a:prstGeom prst="line">
            <a:avLst/>
          </a:prstGeom>
          <a:ln w="25400">
            <a:solidFill>
              <a:srgbClr val="0A19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Diamond 11"/>
          <p:cNvSpPr/>
          <p:nvPr/>
        </p:nvSpPr>
        <p:spPr>
          <a:xfrm>
            <a:off x="1920240" y="3337560"/>
            <a:ext cx="1280160" cy="822960"/>
          </a:xfrm>
          <a:prstGeom prst="diamond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91923"/>
                </a:solidFill>
              </a:defRPr>
            </a:pPr>
            <a:r>
              <a:t>Valid</a:t>
            </a:r>
            <a:br/>
            <a:r>
              <a:t>Credentials?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3520440"/>
            <a:ext cx="457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DC3C32"/>
                </a:solidFill>
              </a:defRPr>
            </a:pPr>
            <a:r>
              <a:t>No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00400" y="3749039"/>
            <a:ext cx="731520" cy="0"/>
          </a:xfrm>
          <a:prstGeom prst="line">
            <a:avLst/>
          </a:prstGeom>
          <a:ln w="25400">
            <a:solidFill>
              <a:srgbClr val="DC3C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931920" y="3520440"/>
            <a:ext cx="1463040" cy="411480"/>
          </a:xfrm>
          <a:prstGeom prst="roundRect">
            <a:avLst/>
          </a:prstGeom>
          <a:solidFill>
            <a:srgbClr val="DC3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Show Error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4663440" y="2194560"/>
            <a:ext cx="0" cy="1325880"/>
          </a:xfrm>
          <a:prstGeom prst="line">
            <a:avLst/>
          </a:prstGeom>
          <a:ln w="25400">
            <a:solidFill>
              <a:srgbClr val="DC3C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3383280.0" y="2194560"/>
            <a:ext cx="1280160.0" cy="0"/>
          </a:xfrm>
          <a:prstGeom prst="line">
            <a:avLst/>
          </a:prstGeom>
          <a:ln w="25400">
            <a:solidFill>
              <a:srgbClr val="DC3C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423160" y="4160520"/>
            <a:ext cx="457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22A65A"/>
                </a:solidFill>
              </a:defRPr>
            </a:pPr>
            <a:r>
              <a:t>Yes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560320" y="4160520"/>
            <a:ext cx="0" cy="274320"/>
          </a:xfrm>
          <a:prstGeom prst="line">
            <a:avLst/>
          </a:prstGeom>
          <a:ln w="25400">
            <a:solidFill>
              <a:srgbClr val="22A6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737360" y="4434840"/>
            <a:ext cx="1645920" cy="457200"/>
          </a:xfrm>
          <a:prstGeom prst="roundRect">
            <a:avLst/>
          </a:prstGeom>
          <a:solidFill>
            <a:srgbClr val="22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Set Session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560320" y="4892040"/>
            <a:ext cx="0" cy="228600"/>
          </a:xfrm>
          <a:prstGeom prst="line">
            <a:avLst/>
          </a:prstGeom>
          <a:ln w="25400">
            <a:solidFill>
              <a:srgbClr val="0A19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1554480" y="5120640"/>
            <a:ext cx="2011680" cy="502920"/>
          </a:xfrm>
          <a:prstGeom prst="roundRect">
            <a:avLst/>
          </a:prstGeom>
          <a:solidFill>
            <a:srgbClr val="0A19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Main Dashboard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5212080"/>
            <a:ext cx="1645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1">
                <a:solidFill>
                  <a:srgbClr val="788291"/>
                </a:solidFill>
              </a:defRPr>
            </a:pPr>
            <a:r>
              <a:t>Navigate ▸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566160" y="5367528"/>
            <a:ext cx="2743200" cy="0"/>
          </a:xfrm>
          <a:prstGeom prst="line">
            <a:avLst/>
          </a:prstGeom>
          <a:ln w="25400">
            <a:solidFill>
              <a:srgbClr val="78829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858000" y="1371600"/>
            <a:ext cx="1828800" cy="384048"/>
          </a:xfrm>
          <a:prstGeom prst="roundRect">
            <a:avLst/>
          </a:prstGeom>
          <a:solidFill>
            <a:srgbClr val="003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Dashboard Page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0" y="1901952"/>
            <a:ext cx="1828800" cy="384048"/>
          </a:xfrm>
          <a:prstGeom prst="roundRect">
            <a:avLst/>
          </a:prstGeom>
          <a:solidFill>
            <a:srgbClr val="22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Equipment Page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0" y="2432304"/>
            <a:ext cx="1828800" cy="384048"/>
          </a:xfrm>
          <a:prstGeom prst="roundRect">
            <a:avLst/>
          </a:prstGeom>
          <a:solidFill>
            <a:srgbClr val="F59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Issue Reports Page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0" y="2962656"/>
            <a:ext cx="1828800" cy="384048"/>
          </a:xfrm>
          <a:prstGeom prst="roundRect">
            <a:avLst/>
          </a:prstGeom>
          <a:solidFill>
            <a:srgbClr val="DC3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Repair Logs Page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0" y="3493008"/>
            <a:ext cx="1828800" cy="384048"/>
          </a:xfrm>
          <a:prstGeom prst="roundRect">
            <a:avLst/>
          </a:prstGeom>
          <a:solidFill>
            <a:srgbClr val="823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Maintenance Page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309360" y="1563624.0"/>
            <a:ext cx="0" cy="3803904.0"/>
          </a:xfrm>
          <a:prstGeom prst="line">
            <a:avLst/>
          </a:prstGeom>
          <a:ln w="15240">
            <a:solidFill>
              <a:srgbClr val="7882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309360" y="1563624.0"/>
            <a:ext cx="548640.0" cy="0.0"/>
          </a:xfrm>
          <a:prstGeom prst="line">
            <a:avLst/>
          </a:prstGeom>
          <a:ln w="15240">
            <a:solidFill>
              <a:srgbClr val="78829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309360" y="2093976.0"/>
            <a:ext cx="548640.0" cy="0.0"/>
          </a:xfrm>
          <a:prstGeom prst="line">
            <a:avLst/>
          </a:prstGeom>
          <a:ln w="15240">
            <a:solidFill>
              <a:srgbClr val="78829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309360" y="2624328.0"/>
            <a:ext cx="548640.0" cy="0.0"/>
          </a:xfrm>
          <a:prstGeom prst="line">
            <a:avLst/>
          </a:prstGeom>
          <a:ln w="15240">
            <a:solidFill>
              <a:srgbClr val="78829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309360" y="3154680.0"/>
            <a:ext cx="548640.0" cy="0.0"/>
          </a:xfrm>
          <a:prstGeom prst="line">
            <a:avLst/>
          </a:prstGeom>
          <a:ln w="15240">
            <a:solidFill>
              <a:srgbClr val="78829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309360" y="3685032.0"/>
            <a:ext cx="548640.0" cy="0.0"/>
          </a:xfrm>
          <a:prstGeom prst="line">
            <a:avLst/>
          </a:prstGeom>
          <a:ln w="15240">
            <a:solidFill>
              <a:srgbClr val="78829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10058400" y="1371600"/>
            <a:ext cx="18288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85832" y="1399032"/>
            <a:ext cx="1773936" cy="36576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49840" y="1508760"/>
            <a:ext cx="16459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100" b="1">
                <a:solidFill>
                  <a:srgbClr val="0066CC"/>
                </a:solidFill>
              </a:defRPr>
            </a:pPr>
            <a:r>
              <a:t>CRUD Operations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241280" y="1874520"/>
            <a:ext cx="1463040" cy="320040"/>
          </a:xfrm>
          <a:prstGeom prst="roundRect">
            <a:avLst/>
          </a:prstGeom>
          <a:solidFill>
            <a:srgbClr val="E0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191923"/>
                </a:solidFill>
              </a:defRPr>
            </a:pPr>
            <a:r>
              <a:t>Add / Create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241280" y="2331720"/>
            <a:ext cx="1463040" cy="320040"/>
          </a:xfrm>
          <a:prstGeom prst="roundRect">
            <a:avLst/>
          </a:prstGeom>
          <a:solidFill>
            <a:srgbClr val="E0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191923"/>
                </a:solidFill>
              </a:defRPr>
            </a:pPr>
            <a:r>
              <a:t>View / Read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241280" y="2788920"/>
            <a:ext cx="1463040" cy="320040"/>
          </a:xfrm>
          <a:prstGeom prst="roundRect">
            <a:avLst/>
          </a:prstGeom>
          <a:solidFill>
            <a:srgbClr val="E0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191923"/>
                </a:solidFill>
              </a:defRPr>
            </a:pPr>
            <a:r>
              <a:t>Edit / Update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241280" y="3246120"/>
            <a:ext cx="1463040" cy="320040"/>
          </a:xfrm>
          <a:prstGeom prst="roundRect">
            <a:avLst/>
          </a:prstGeom>
          <a:solidFill>
            <a:srgbClr val="E0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191923"/>
                </a:solidFill>
              </a:defRPr>
            </a:pPr>
            <a:r>
              <a:t>Delete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241280" y="3703320"/>
            <a:ext cx="1463040" cy="320040"/>
          </a:xfrm>
          <a:prstGeom prst="roundRect">
            <a:avLst/>
          </a:prstGeom>
          <a:solidFill>
            <a:srgbClr val="E0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191923"/>
                </a:solidFill>
              </a:defRPr>
            </a:pPr>
            <a:r>
              <a:t>Search / Filter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686800.0" y="2468880"/>
            <a:ext cx="1371600.0" cy="0"/>
          </a:xfrm>
          <a:prstGeom prst="line">
            <a:avLst/>
          </a:prstGeom>
          <a:ln w="15240">
            <a:solidFill>
              <a:srgbClr val="78829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8869680" y="2194560"/>
            <a:ext cx="1097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800" b="0">
                <a:solidFill>
                  <a:srgbClr val="788291"/>
                </a:solidFill>
              </a:defRPr>
            </a:pPr>
            <a:r>
              <a:t>performs 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5166360"/>
            <a:ext cx="914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DC3C32"/>
                </a:solidFill>
              </a:defRPr>
            </a:pPr>
            <a:r>
              <a:t>Logout</a:t>
            </a:r>
          </a:p>
        </p:txBody>
      </p:sp>
      <p:cxnSp>
        <p:nvCxnSpPr>
          <p:cNvPr id="47" name="Connector 46"/>
          <p:cNvCxnSpPr/>
          <p:nvPr/>
        </p:nvCxnSpPr>
        <p:spPr>
          <a:xfrm flipH="1">
            <a:off x="1097280" y="5367528"/>
            <a:ext cx="457200" cy="0"/>
          </a:xfrm>
          <a:prstGeom prst="line">
            <a:avLst/>
          </a:prstGeom>
          <a:ln w="25400">
            <a:solidFill>
              <a:srgbClr val="DC3C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097280" y="2194560"/>
            <a:ext cx="0" cy="3172968"/>
          </a:xfrm>
          <a:prstGeom prst="line">
            <a:avLst/>
          </a:prstGeom>
          <a:ln w="25400">
            <a:solidFill>
              <a:srgbClr val="DC3C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97280" y="2194560"/>
            <a:ext cx="640080.0" cy="0"/>
          </a:xfrm>
          <a:prstGeom prst="line">
            <a:avLst/>
          </a:prstGeom>
          <a:ln w="25400">
            <a:solidFill>
              <a:srgbClr val="DC3C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A19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"/>
            <a:ext cx="91440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Features: Login &amp;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28600"/>
            <a:ext cx="13716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100" b="0">
                <a:solidFill>
                  <a:srgbClr val="6482B4"/>
                </a:solidFill>
              </a:defRPr>
            </a:pPr>
            <a:r>
              <a:t>TechTrack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3035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99032"/>
            <a:ext cx="5212080" cy="41148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08760"/>
            <a:ext cx="49377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0066CC"/>
                </a:solidFill>
              </a:defRPr>
            </a:pPr>
            <a:r>
              <a:t>Login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• Username and password authentication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• Credentials validated through AuthService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• Show / hide password toggle checkbox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• Session created via SessionManager on success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• Invalid login shows error dialog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• Logout clears session and returns to login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Default credentials: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  Username: admin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  Password: password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399032"/>
            <a:ext cx="5394960" cy="41148"/>
          </a:xfrm>
          <a:prstGeom prst="rect">
            <a:avLst/>
          </a:prstGeom>
          <a:solidFill>
            <a:srgbClr val="003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508760"/>
            <a:ext cx="51206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003F87"/>
                </a:solidFill>
              </a:defRPr>
            </a:pPr>
            <a:r>
              <a:t>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Live Summary Cards (calculated from services):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  • Total Devices — count of all equipment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  • Online &amp; Healthy — count by status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  • Needs Attention — flagged devices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  • Open Repair Tickets — incomplete repairs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  • Avg Health Score — average across all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Maintenance Intelligence: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  • Ranks devices by repair frequency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  • Shows category and failure rate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Activity Log — session events and timestamps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A19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"/>
            <a:ext cx="91440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Features: Equipment &amp; Issue Reports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28600"/>
            <a:ext cx="13716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100" b="0">
                <a:solidFill>
                  <a:srgbClr val="6482B4"/>
                </a:solidFill>
              </a:defRPr>
            </a:pPr>
            <a:r>
              <a:t>TechTrack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30352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99032"/>
            <a:ext cx="5212080" cy="41148"/>
          </a:xfrm>
          <a:prstGeom prst="rect">
            <a:avLst/>
          </a:prstGeom>
          <a:solidFill>
            <a:srgbClr val="22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08760"/>
            <a:ext cx="49377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22A65A"/>
                </a:solidFill>
              </a:defRPr>
            </a:pPr>
            <a:r>
              <a:t>Equipment Management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Full CRUD with form dialogs: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  • Add — device name, type, status, health, location, category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  • Edit — select row, modify via dialog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  • Delete — confirmation before removal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Search: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  • Filter by device name, type, or status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  • Real-time table refresh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Types: Workstation, Server, Network Switch, Router, Printer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Statuses: Online, Offline, Needs Attention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Categories: Hardware, Software, Network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4864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399032"/>
            <a:ext cx="5394960" cy="41148"/>
          </a:xfrm>
          <a:prstGeom prst="rect">
            <a:avLst/>
          </a:prstGeom>
          <a:solidFill>
            <a:srgbClr val="F59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508760"/>
            <a:ext cx="51206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F59B1E"/>
                </a:solidFill>
              </a:defRPr>
            </a:pPr>
            <a:r>
              <a:t>Issue Reports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82880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Report issues linked to registered equipment: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  • Select equipment from dropdown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  • Enter description and set priority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  • Auto-set reporter from current session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Priority Levels: Low, Medium, High, Critical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Status Workflow: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  Open → In Progress → Resolved → Closed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Actions: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  • Report Issue — open submission form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  • Resolve — mark as resolved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  • Close Issue — mark as closed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  • Delete — remove with confirmation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  • Filter — dropdown filter by status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A19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"/>
            <a:ext cx="91440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Features: Repair Logs &amp; Maintenance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28600"/>
            <a:ext cx="13716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100" b="0">
                <a:solidFill>
                  <a:srgbClr val="6482B4"/>
                </a:solidFill>
              </a:defRPr>
            </a:pPr>
            <a:r>
              <a:t>TechTrack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30352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99032"/>
            <a:ext cx="5212080" cy="41148"/>
          </a:xfrm>
          <a:prstGeom prst="rect">
            <a:avLst/>
          </a:prstGeom>
          <a:solidFill>
            <a:srgbClr val="DC3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08760"/>
            <a:ext cx="49377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DC3C32"/>
                </a:solidFill>
              </a:defRPr>
            </a:pPr>
            <a:r>
              <a:t>Repair Logs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Log repairs for equipment: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  • Select equipment from dropdown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  • Enter description, technician name, cost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  • New repairs default to Pending status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Status Workflow: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  Pending → In Progress → Completed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Mark Complete: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  • Auto-fills completion date (today's date)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  • Updates status to Completed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Actions: Add Repair, Mark Complete, Delete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Filter: dropdown by status (All / Pending / In Progress / Completed)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4864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399032"/>
            <a:ext cx="5394960" cy="41148"/>
          </a:xfrm>
          <a:prstGeom prst="rect">
            <a:avLst/>
          </a:prstGeom>
          <a:solidFill>
            <a:srgbClr val="823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508760"/>
            <a:ext cx="51206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8232B4"/>
                </a:solidFill>
              </a:defRPr>
            </a:pPr>
            <a:r>
              <a:t>Maintenance Schedule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82880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Schedule maintenance tasks: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  • Select equipment from dropdown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  • Enter task description and due date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  • New tasks default to Scheduled status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Status Workflow: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  Scheduled → In Progress → Completed / Overdue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Actions: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  • Schedule Task — create new task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  • Start — change status to In Progress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  • Complete — mark as Completed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  • Delete — remove with confirmation</a:t>
            </a: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91923"/>
                </a:solidFill>
              </a:defRPr>
            </a:pPr>
            <a:r>
              <a:t>Filter: dropdown by status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A19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"/>
            <a:ext cx="91440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28600"/>
            <a:ext cx="13716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100" b="0">
                <a:solidFill>
                  <a:srgbClr val="6482B4"/>
                </a:solidFill>
              </a:defRPr>
            </a:pPr>
            <a:r>
              <a:t>TechTrack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530352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73352"/>
            <a:ext cx="521208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4754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066CC"/>
                </a:solidFill>
              </a:defRPr>
            </a:pPr>
            <a:r>
              <a:t>Language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47548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800" b="1">
                <a:solidFill>
                  <a:srgbClr val="191923"/>
                </a:solidFill>
              </a:defRPr>
            </a:pPr>
            <a:r>
              <a:t>Java (JDK 25)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45920"/>
            <a:ext cx="530352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673352"/>
            <a:ext cx="5212080" cy="45720"/>
          </a:xfrm>
          <a:prstGeom prst="rect">
            <a:avLst/>
          </a:prstGeom>
          <a:solidFill>
            <a:srgbClr val="22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828800"/>
            <a:ext cx="4754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22A65A"/>
                </a:solidFill>
              </a:defRPr>
            </a:pPr>
            <a:r>
              <a:t>GUI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194560"/>
            <a:ext cx="47548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800" b="1">
                <a:solidFill>
                  <a:srgbClr val="191923"/>
                </a:solidFill>
              </a:defRPr>
            </a:pPr>
            <a:r>
              <a:t>Java Swing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200400"/>
            <a:ext cx="530352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227832"/>
            <a:ext cx="5212080" cy="45720"/>
          </a:xfrm>
          <a:prstGeom prst="rect">
            <a:avLst/>
          </a:prstGeom>
          <a:solidFill>
            <a:srgbClr val="F59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383280"/>
            <a:ext cx="4754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F59B1E"/>
                </a:solidFill>
              </a:defRPr>
            </a:pPr>
            <a:r>
              <a:t>Build Tool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749040"/>
            <a:ext cx="47548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800" b="1">
                <a:solidFill>
                  <a:srgbClr val="191923"/>
                </a:solidFill>
              </a:defRPr>
            </a:pPr>
            <a:r>
              <a:t>Apache Maven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3200400"/>
            <a:ext cx="530352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3227832"/>
            <a:ext cx="5212080" cy="45720"/>
          </a:xfrm>
          <a:prstGeom prst="rect">
            <a:avLst/>
          </a:prstGeom>
          <a:solidFill>
            <a:srgbClr val="823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383280"/>
            <a:ext cx="4754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8232B4"/>
                </a:solidFill>
              </a:defRPr>
            </a:pPr>
            <a:r>
              <a:t>Data Storage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749040"/>
            <a:ext cx="47548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800" b="1">
                <a:solidFill>
                  <a:srgbClr val="191923"/>
                </a:solidFill>
              </a:defRPr>
            </a:pPr>
            <a:r>
              <a:t>In-memory (ArrayList)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754880"/>
            <a:ext cx="530352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4782312"/>
            <a:ext cx="5212080" cy="45720"/>
          </a:xfrm>
          <a:prstGeom prst="rect">
            <a:avLst/>
          </a:prstGeom>
          <a:solidFill>
            <a:srgbClr val="003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937760"/>
            <a:ext cx="4754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03F87"/>
                </a:solidFill>
              </a:defRPr>
            </a:pPr>
            <a:r>
              <a:t>Design Pattern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303520"/>
            <a:ext cx="47548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800" b="1">
                <a:solidFill>
                  <a:srgbClr val="191923"/>
                </a:solidFill>
              </a:defRPr>
            </a:pPr>
            <a:r>
              <a:t>Singleton, MVC-inspired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4754880"/>
            <a:ext cx="530352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55080" y="4782312"/>
            <a:ext cx="5212080" cy="45720"/>
          </a:xfrm>
          <a:prstGeom prst="rect">
            <a:avLst/>
          </a:prstGeom>
          <a:solidFill>
            <a:srgbClr val="DC3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937760"/>
            <a:ext cx="4754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DC3C32"/>
                </a:solidFill>
              </a:defRPr>
            </a:pPr>
            <a:r>
              <a:t>Dependencies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5303520"/>
            <a:ext cx="47548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800" b="1">
                <a:solidFill>
                  <a:srgbClr val="191923"/>
                </a:solidFill>
              </a:defRPr>
            </a:pPr>
            <a:r>
              <a:t>None — pure Java only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" y="0"/>
            <a:ext cx="36576" cy="6858000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 anchor="b"/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3383280"/>
            <a:ext cx="2743200" cy="4572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800" b="0">
                <a:solidFill>
                  <a:srgbClr val="FFCC00"/>
                </a:solidFill>
              </a:defRPr>
            </a:pPr>
            <a:r>
              <a:t>TechTrack — Hardware Monitoring &amp; Maintenance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0">
                <a:solidFill>
                  <a:srgbClr val="8CA0C8"/>
                </a:solidFill>
              </a:defRPr>
            </a:pPr>
            <a:r>
              <a:t>Java  •  Swing  •  OOP  •  Maven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03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